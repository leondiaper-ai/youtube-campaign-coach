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Channels</c:v>
                </c:pt>
              </c:strCache>
            </c:strRef>
          </c:tx>
          <c:spPr>
            <a:solidFill>
              <a:srgbClr val="2EAD9C"/>
            </a:solidFill>
            <a:effectLst/>
          </c:spPr>
          <c:invertIfNegative val="0"/>
          <c:dLbls>
            <c:numFmt formatCode="#,##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cat>
            <c:multiLvlStrRef>
              <c:f>Sheet1!$A$2:$A$8</c:f>
              <c:multiLvlStrCache>
                <c:ptCount val="7"/>
                <c:lvl>
                  <c:pt idx="0">
                    <c:v>6</c:v>
                  </c:pt>
                  <c:pt idx="1">
                    <c:v>5</c:v>
                  </c:pt>
                  <c:pt idx="2">
                    <c:v>4</c:v>
                  </c:pt>
                  <c:pt idx="3">
                    <c:v>3</c:v>
                  </c:pt>
                  <c:pt idx="4">
                    <c:v>2</c:v>
                  </c:pt>
                  <c:pt idx="5">
                    <c:v>1</c:v>
                  </c:pt>
                  <c:pt idx="6">
                    <c:v>0</c:v>
                  </c:pt>
                </c:lvl>
              </c:multiLvlStrCache>
            </c:multiLvlStrRef>
          </c:cat>
          <c:val>
            <c:numRef>
              <c:f>Sheet1!$B$2:$B$8</c:f>
              <c:numCache>
                <c:formatCode>General</c:formatCode>
                <c:ptCount val="7"/>
                <c:pt idx="0">
                  <c:v>3</c:v>
                </c:pt>
                <c:pt idx="1">
                  <c:v>19</c:v>
                </c:pt>
                <c:pt idx="2">
                  <c:v>35</c:v>
                </c:pt>
                <c:pt idx="3">
                  <c:v>29</c:v>
                </c:pt>
                <c:pt idx="4">
                  <c:v>25</c:v>
                </c:pt>
                <c:pt idx="5">
                  <c:v>21</c:v>
                </c:pt>
                <c:pt idx="6">
                  <c:v>6</c:v>
                </c:pt>
              </c:numCache>
            </c:numRef>
          </c:val>
        </c:ser>
        <c:dLbls>
          <c:numFmt formatCode="#,##0" sourceLinked="0"/>
          <c:txPr>
            <a:bodyPr/>
            <a:lstStyle/>
            <a:p>
              <a:pPr>
                <a:defRPr b="0" i="0" strike="noStrike" sz="1000" u="none">
                  <a:solidFill>
                    <a:srgbClr val="1A1A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7F8C8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7F8C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914400"/>
            <a:ext cx="7680960" cy="914400"/>
          </a:xfrm>
          <a:prstGeom prst="rect">
            <a:avLst/>
          </a:prstGeom>
          <a:noFill/>
          <a:ln/>
        </p:spPr>
        <p:txBody>
          <a:bodyPr wrap="square" lIns="0" tIns="0" rIns="0" bIns="0" rtlCol="0" anchor="ctr"/>
          <a:lstStyle/>
          <a:p>
            <a:pPr algn="l" indent="0" marL="0">
              <a:buNone/>
            </a:pPr>
            <a:r>
              <a:rPr lang="en-US" sz="5200" b="1" dirty="0">
                <a:solidFill>
                  <a:srgbClr val="FFFFFF"/>
                </a:solidFill>
                <a:latin typeface="Arial" pitchFamily="34" charset="0"/>
                <a:ea typeface="Arial" pitchFamily="34" charset="-122"/>
                <a:cs typeface="Arial" pitchFamily="34" charset="-120"/>
              </a:rPr>
              <a:t>YouTube</a:t>
            </a:r>
            <a:endParaRPr lang="en-US" sz="5200" dirty="0"/>
          </a:p>
        </p:txBody>
      </p:sp>
      <p:sp>
        <p:nvSpPr>
          <p:cNvPr id="3" name="Text 1"/>
          <p:cNvSpPr/>
          <p:nvPr/>
        </p:nvSpPr>
        <p:spPr>
          <a:xfrm>
            <a:off x="731520" y="1691640"/>
            <a:ext cx="7680960" cy="914400"/>
          </a:xfrm>
          <a:prstGeom prst="rect">
            <a:avLst/>
          </a:prstGeom>
          <a:noFill/>
          <a:ln/>
        </p:spPr>
        <p:txBody>
          <a:bodyPr wrap="square" lIns="0" tIns="0" rIns="0" bIns="0" rtlCol="0" anchor="ctr"/>
          <a:lstStyle/>
          <a:p>
            <a:pPr algn="l" indent="0" marL="0">
              <a:buNone/>
            </a:pPr>
            <a:r>
              <a:rPr lang="en-US" sz="5200" b="1" dirty="0">
                <a:solidFill>
                  <a:srgbClr val="2EAD9C"/>
                </a:solidFill>
                <a:latin typeface="Arial" pitchFamily="34" charset="0"/>
                <a:ea typeface="Arial" pitchFamily="34" charset="-122"/>
                <a:cs typeface="Arial" pitchFamily="34" charset="-120"/>
              </a:rPr>
              <a:t>Market Intelligence</a:t>
            </a:r>
            <a:endParaRPr lang="en-US" sz="5200" dirty="0"/>
          </a:p>
        </p:txBody>
      </p:sp>
      <p:sp>
        <p:nvSpPr>
          <p:cNvPr id="4" name="Text 2"/>
          <p:cNvSpPr/>
          <p:nvPr/>
        </p:nvSpPr>
        <p:spPr>
          <a:xfrm>
            <a:off x="731520" y="2926080"/>
            <a:ext cx="7680960" cy="457200"/>
          </a:xfrm>
          <a:prstGeom prst="rect">
            <a:avLst/>
          </a:prstGeom>
          <a:noFill/>
          <a:ln/>
        </p:spPr>
        <p:txBody>
          <a:bodyPr wrap="square" lIns="0" tIns="0" rIns="0" bIns="0" rtlCol="0" anchor="ctr"/>
          <a:lstStyle/>
          <a:p>
            <a:pPr algn="l" indent="0" marL="0">
              <a:buNone/>
            </a:pPr>
            <a:r>
              <a:rPr lang="en-US" sz="1400" dirty="0">
                <a:solidFill>
                  <a:srgbClr val="7F8C8D"/>
                </a:solidFill>
                <a:latin typeface="Arial" pitchFamily="34" charset="0"/>
                <a:ea typeface="Arial" pitchFamily="34" charset="-122"/>
                <a:cs typeface="Arial" pitchFamily="34" charset="-120"/>
              </a:rPr>
              <a:t>Virgin Music Group  ·  July 2026</a:t>
            </a:r>
            <a:endParaRPr lang="en-US" sz="1400" dirty="0"/>
          </a:p>
        </p:txBody>
      </p:sp>
      <p:sp>
        <p:nvSpPr>
          <p:cNvPr id="5" name="Shape 3"/>
          <p:cNvSpPr/>
          <p:nvPr/>
        </p:nvSpPr>
        <p:spPr>
          <a:xfrm>
            <a:off x="731520" y="4114800"/>
            <a:ext cx="4206240" cy="384048"/>
          </a:xfrm>
          <a:prstGeom prst="roundRect">
            <a:avLst>
              <a:gd name="adj" fmla="val 14286"/>
            </a:avLst>
          </a:prstGeom>
          <a:solidFill>
            <a:srgbClr val="1A8A7D"/>
          </a:solidFill>
          <a:ln/>
        </p:spPr>
      </p:sp>
      <p:sp>
        <p:nvSpPr>
          <p:cNvPr id="6" name="Text 4"/>
          <p:cNvSpPr/>
          <p:nvPr/>
        </p:nvSpPr>
        <p:spPr>
          <a:xfrm>
            <a:off x="731520" y="4114800"/>
            <a:ext cx="42062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138 Channels  ·  3,554 Videos  ·  Watcher Dataset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2800" b="1" dirty="0">
                <a:solidFill>
                  <a:srgbClr val="1A1A2E"/>
                </a:solidFill>
                <a:latin typeface="Arial" pitchFamily="34" charset="0"/>
                <a:ea typeface="Arial" pitchFamily="34" charset="-122"/>
                <a:cs typeface="Arial" pitchFamily="34" charset="-120"/>
              </a:rPr>
              <a:t>The Current State of YouTube</a:t>
            </a:r>
            <a:endParaRPr lang="en-US" sz="2800" dirty="0"/>
          </a:p>
        </p:txBody>
      </p:sp>
      <p:sp>
        <p:nvSpPr>
          <p:cNvPr id="3" name="Text 1"/>
          <p:cNvSpPr/>
          <p:nvPr/>
        </p:nvSpPr>
        <p:spPr>
          <a:xfrm>
            <a:off x="548640" y="685800"/>
            <a:ext cx="8046720" cy="274320"/>
          </a:xfrm>
          <a:prstGeom prst="rect">
            <a:avLst/>
          </a:prstGeom>
          <a:noFill/>
          <a:ln/>
        </p:spPr>
        <p:txBody>
          <a:bodyPr wrap="square" lIns="0" tIns="0" rIns="0" bIns="0" rtlCol="0" anchor="ctr"/>
          <a:lstStyle/>
          <a:p>
            <a:pPr algn="l" indent="0" marL="0">
              <a:buNone/>
            </a:pPr>
            <a:r>
              <a:rPr lang="en-US" sz="1200" dirty="0">
                <a:solidFill>
                  <a:srgbClr val="7F8C8D"/>
                </a:solidFill>
                <a:latin typeface="Arial" pitchFamily="34" charset="0"/>
                <a:ea typeface="Arial" pitchFamily="34" charset="-122"/>
                <a:cs typeface="Arial" pitchFamily="34" charset="-120"/>
              </a:rPr>
              <a:t>138 monitored channels. What formats are they using right now?</a:t>
            </a:r>
            <a:endParaRPr lang="en-US" sz="1200" dirty="0"/>
          </a:p>
        </p:txBody>
      </p:sp>
      <p:sp>
        <p:nvSpPr>
          <p:cNvPr id="4" name="Shape 2"/>
          <p:cNvSpPr/>
          <p:nvPr/>
        </p:nvSpPr>
        <p:spPr>
          <a:xfrm>
            <a:off x="457200" y="1143000"/>
            <a:ext cx="1920240" cy="1417320"/>
          </a:xfrm>
          <a:prstGeom prst="roundRect">
            <a:avLst>
              <a:gd name="adj" fmla="val 5161"/>
            </a:avLst>
          </a:prstGeom>
          <a:solidFill>
            <a:srgbClr val="2EAD9C"/>
          </a:solidFill>
          <a:ln/>
          <a:effectLst>
            <a:outerShdw sx="100000" sy="100000" kx="0" ky="0" algn="bl" rotWithShape="0" blurRad="50800" dist="12700" dir="2700000">
              <a:srgbClr val="000000">
                <a:alpha val="8000"/>
              </a:srgbClr>
            </a:outerShdw>
          </a:effectLst>
        </p:spPr>
      </p:sp>
      <p:sp>
        <p:nvSpPr>
          <p:cNvPr id="5" name="Text 3"/>
          <p:cNvSpPr/>
          <p:nvPr/>
        </p:nvSpPr>
        <p:spPr>
          <a:xfrm>
            <a:off x="457200" y="1143000"/>
            <a:ext cx="1920240" cy="1417320"/>
          </a:xfrm>
          <a:prstGeom prst="rect">
            <a:avLst/>
          </a:prstGeom>
          <a:noFill/>
          <a:ln/>
        </p:spPr>
        <p:txBody>
          <a:bodyPr wrap="square" lIns="0" tIns="0" rIns="0" bIns="0" rtlCol="0" anchor="ctr"/>
          <a:lstStyle/>
          <a:p>
            <a:pPr algn="ctr" indent="0" marL="0">
              <a:buNone/>
            </a:pPr>
            <a:r>
              <a:rPr lang="en-US" sz="4200" b="1" dirty="0">
                <a:solidFill>
                  <a:srgbClr val="FFFFFF"/>
                </a:solidFill>
              </a:rPr>
              <a:t>77%</a:t>
            </a:r>
            <a:endParaRPr lang="en-US" sz="4200" dirty="0"/>
          </a:p>
          <a:p>
            <a:pPr algn="ctr" indent="0" marL="0">
              <a:buNone/>
            </a:pPr>
            <a:r>
              <a:rPr lang="en-US" sz="1100" dirty="0">
                <a:solidFill>
                  <a:srgbClr val="FFFFFF"/>
                </a:solidFill>
              </a:rPr>
              <a:t>Official Music Videos</a:t>
            </a:r>
            <a:endParaRPr lang="en-US" sz="4200" dirty="0"/>
          </a:p>
        </p:txBody>
      </p:sp>
      <p:sp>
        <p:nvSpPr>
          <p:cNvPr id="6" name="Shape 4"/>
          <p:cNvSpPr/>
          <p:nvPr/>
        </p:nvSpPr>
        <p:spPr>
          <a:xfrm>
            <a:off x="2514600" y="11430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7" name="Text 5"/>
          <p:cNvSpPr/>
          <p:nvPr/>
        </p:nvSpPr>
        <p:spPr>
          <a:xfrm>
            <a:off x="2514600" y="11430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48%</a:t>
            </a:r>
            <a:endParaRPr lang="en-US" sz="4200" dirty="0"/>
          </a:p>
          <a:p>
            <a:pPr algn="ctr" indent="0" marL="0">
              <a:buNone/>
            </a:pPr>
            <a:r>
              <a:rPr lang="en-US" sz="1100" dirty="0">
                <a:solidFill>
                  <a:srgbClr val="7F8C8D"/>
                </a:solidFill>
              </a:rPr>
              <a:t>Shorts</a:t>
            </a:r>
            <a:endParaRPr lang="en-US" sz="4200" dirty="0"/>
          </a:p>
        </p:txBody>
      </p:sp>
      <p:sp>
        <p:nvSpPr>
          <p:cNvPr id="8" name="Shape 6"/>
          <p:cNvSpPr/>
          <p:nvPr/>
        </p:nvSpPr>
        <p:spPr>
          <a:xfrm>
            <a:off x="4572000" y="11430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9" name="Text 7"/>
          <p:cNvSpPr/>
          <p:nvPr/>
        </p:nvSpPr>
        <p:spPr>
          <a:xfrm>
            <a:off x="4572000" y="11430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48%</a:t>
            </a:r>
            <a:endParaRPr lang="en-US" sz="4200" dirty="0"/>
          </a:p>
          <a:p>
            <a:pPr algn="ctr" indent="0" marL="0">
              <a:buNone/>
            </a:pPr>
            <a:r>
              <a:rPr lang="en-US" sz="1100" dirty="0">
                <a:solidFill>
                  <a:srgbClr val="7F8C8D"/>
                </a:solidFill>
              </a:rPr>
              <a:t>Lyric Videos</a:t>
            </a:r>
            <a:endParaRPr lang="en-US" sz="4200" dirty="0"/>
          </a:p>
        </p:txBody>
      </p:sp>
      <p:sp>
        <p:nvSpPr>
          <p:cNvPr id="10" name="Shape 8"/>
          <p:cNvSpPr/>
          <p:nvPr/>
        </p:nvSpPr>
        <p:spPr>
          <a:xfrm>
            <a:off x="6629400" y="11430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11" name="Text 9"/>
          <p:cNvSpPr/>
          <p:nvPr/>
        </p:nvSpPr>
        <p:spPr>
          <a:xfrm>
            <a:off x="6629400" y="11430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54%</a:t>
            </a:r>
            <a:endParaRPr lang="en-US" sz="4200" dirty="0"/>
          </a:p>
          <a:p>
            <a:pPr algn="ctr" indent="0" marL="0">
              <a:buNone/>
            </a:pPr>
            <a:r>
              <a:rPr lang="en-US" sz="1100" dirty="0">
                <a:solidFill>
                  <a:srgbClr val="7F8C8D"/>
                </a:solidFill>
              </a:rPr>
              <a:t>Live Sessions</a:t>
            </a:r>
            <a:endParaRPr lang="en-US" sz="4200" dirty="0"/>
          </a:p>
        </p:txBody>
      </p:sp>
      <p:sp>
        <p:nvSpPr>
          <p:cNvPr id="12" name="Shape 10"/>
          <p:cNvSpPr/>
          <p:nvPr/>
        </p:nvSpPr>
        <p:spPr>
          <a:xfrm>
            <a:off x="457200" y="27432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13" name="Text 11"/>
          <p:cNvSpPr/>
          <p:nvPr/>
        </p:nvSpPr>
        <p:spPr>
          <a:xfrm>
            <a:off x="457200" y="27432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48%</a:t>
            </a:r>
            <a:endParaRPr lang="en-US" sz="4200" dirty="0"/>
          </a:p>
          <a:p>
            <a:pPr algn="ctr" indent="0" marL="0">
              <a:buNone/>
            </a:pPr>
            <a:r>
              <a:rPr lang="en-US" sz="1100" dirty="0">
                <a:solidFill>
                  <a:srgbClr val="7F8C8D"/>
                </a:solidFill>
              </a:rPr>
              <a:t>Visualisers</a:t>
            </a:r>
            <a:endParaRPr lang="en-US" sz="4200" dirty="0"/>
          </a:p>
        </p:txBody>
      </p:sp>
      <p:sp>
        <p:nvSpPr>
          <p:cNvPr id="14" name="Shape 12"/>
          <p:cNvSpPr/>
          <p:nvPr/>
        </p:nvSpPr>
        <p:spPr>
          <a:xfrm>
            <a:off x="2514600" y="27432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15" name="Text 13"/>
          <p:cNvSpPr/>
          <p:nvPr/>
        </p:nvSpPr>
        <p:spPr>
          <a:xfrm>
            <a:off x="2514600" y="27432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24%</a:t>
            </a:r>
            <a:endParaRPr lang="en-US" sz="4200" dirty="0"/>
          </a:p>
          <a:p>
            <a:pPr algn="ctr" indent="0" marL="0">
              <a:buNone/>
            </a:pPr>
            <a:r>
              <a:rPr lang="en-US" sz="1100" dirty="0">
                <a:solidFill>
                  <a:srgbClr val="7F8C8D"/>
                </a:solidFill>
              </a:rPr>
              <a:t>Behind The Scenes</a:t>
            </a:r>
            <a:endParaRPr lang="en-US" sz="4200" dirty="0"/>
          </a:p>
        </p:txBody>
      </p:sp>
      <p:sp>
        <p:nvSpPr>
          <p:cNvPr id="16" name="Shape 14"/>
          <p:cNvSpPr/>
          <p:nvPr/>
        </p:nvSpPr>
        <p:spPr>
          <a:xfrm>
            <a:off x="4572000" y="2743200"/>
            <a:ext cx="1920240" cy="1417320"/>
          </a:xfrm>
          <a:prstGeom prst="roundRect">
            <a:avLst>
              <a:gd name="adj" fmla="val 5161"/>
            </a:avLst>
          </a:prstGeom>
          <a:solidFill>
            <a:srgbClr val="F7F8FA"/>
          </a:solidFill>
          <a:ln/>
          <a:effectLst>
            <a:outerShdw sx="100000" sy="100000" kx="0" ky="0" algn="bl" rotWithShape="0" blurRad="50800" dist="12700" dir="2700000">
              <a:srgbClr val="000000">
                <a:alpha val="8000"/>
              </a:srgbClr>
            </a:outerShdw>
          </a:effectLst>
        </p:spPr>
      </p:sp>
      <p:sp>
        <p:nvSpPr>
          <p:cNvPr id="17" name="Text 15"/>
          <p:cNvSpPr/>
          <p:nvPr/>
        </p:nvSpPr>
        <p:spPr>
          <a:xfrm>
            <a:off x="4572000" y="2743200"/>
            <a:ext cx="1920240" cy="1417320"/>
          </a:xfrm>
          <a:prstGeom prst="rect">
            <a:avLst/>
          </a:prstGeom>
          <a:noFill/>
          <a:ln/>
        </p:spPr>
        <p:txBody>
          <a:bodyPr wrap="square" lIns="0" tIns="0" rIns="0" bIns="0" rtlCol="0" anchor="ctr"/>
          <a:lstStyle/>
          <a:p>
            <a:pPr algn="ctr" indent="0" marL="0">
              <a:buNone/>
            </a:pPr>
            <a:r>
              <a:rPr lang="en-US" sz="4200" b="1" dirty="0">
                <a:solidFill>
                  <a:srgbClr val="1A1A2E"/>
                </a:solidFill>
              </a:rPr>
              <a:t>16%</a:t>
            </a:r>
            <a:endParaRPr lang="en-US" sz="4200" dirty="0"/>
          </a:p>
          <a:p>
            <a:pPr algn="ctr" indent="0" marL="0">
              <a:buNone/>
            </a:pPr>
            <a:r>
              <a:rPr lang="en-US" sz="1100" dirty="0">
                <a:solidFill>
                  <a:srgbClr val="7F8C8D"/>
                </a:solidFill>
              </a:rPr>
              <a:t>Acoustic</a:t>
            </a:r>
            <a:endParaRPr lang="en-US" sz="4200" dirty="0"/>
          </a:p>
        </p:txBody>
      </p:sp>
      <p:sp>
        <p:nvSpPr>
          <p:cNvPr id="18" name="Shape 16"/>
          <p:cNvSpPr/>
          <p:nvPr/>
        </p:nvSpPr>
        <p:spPr>
          <a:xfrm>
            <a:off x="6629400" y="2743200"/>
            <a:ext cx="1920240" cy="1417320"/>
          </a:xfrm>
          <a:prstGeom prst="roundRect">
            <a:avLst>
              <a:gd name="adj" fmla="val 5161"/>
            </a:avLst>
          </a:prstGeom>
          <a:solidFill>
            <a:srgbClr val="1A1A2E"/>
          </a:solidFill>
          <a:ln/>
          <a:effectLst>
            <a:outerShdw sx="100000" sy="100000" kx="0" ky="0" algn="bl" rotWithShape="0" blurRad="50800" dist="12700" dir="2700000">
              <a:srgbClr val="000000">
                <a:alpha val="8000"/>
              </a:srgbClr>
            </a:outerShdw>
          </a:effectLst>
        </p:spPr>
      </p:sp>
      <p:sp>
        <p:nvSpPr>
          <p:cNvPr id="19" name="Text 17"/>
          <p:cNvSpPr/>
          <p:nvPr/>
        </p:nvSpPr>
        <p:spPr>
          <a:xfrm>
            <a:off x="6629400" y="2743200"/>
            <a:ext cx="1920240" cy="1417320"/>
          </a:xfrm>
          <a:prstGeom prst="rect">
            <a:avLst/>
          </a:prstGeom>
          <a:noFill/>
          <a:ln/>
        </p:spPr>
        <p:txBody>
          <a:bodyPr wrap="square" lIns="0" tIns="0" rIns="0" bIns="0" rtlCol="0" anchor="ctr"/>
          <a:lstStyle/>
          <a:p>
            <a:pPr algn="ctr" indent="0" marL="0">
              <a:buNone/>
            </a:pPr>
            <a:r>
              <a:rPr lang="en-US" sz="4000" b="1" dirty="0">
                <a:solidFill>
                  <a:srgbClr val="2EAD9C"/>
                </a:solidFill>
              </a:rPr>
              <a:t>138</a:t>
            </a:r>
            <a:endParaRPr lang="en-US" sz="4000" dirty="0"/>
          </a:p>
          <a:p>
            <a:pPr algn="ctr" indent="0" marL="0">
              <a:buNone/>
            </a:pPr>
            <a:r>
              <a:rPr lang="en-US" sz="1100" dirty="0">
                <a:solidFill>
                  <a:srgbClr val="7F8C8D"/>
                </a:solidFill>
              </a:rPr>
              <a:t>channels monitored</a:t>
            </a:r>
            <a:endParaRPr lang="en-US" sz="4000" dirty="0"/>
          </a:p>
        </p:txBody>
      </p:sp>
      <p:sp>
        <p:nvSpPr>
          <p:cNvPr id="20" name="Text 18"/>
          <p:cNvSpPr/>
          <p:nvPr/>
        </p:nvSpPr>
        <p:spPr>
          <a:xfrm>
            <a:off x="457200" y="4709160"/>
            <a:ext cx="8229600" cy="274320"/>
          </a:xfrm>
          <a:prstGeom prst="rect">
            <a:avLst/>
          </a:prstGeom>
          <a:noFill/>
          <a:ln/>
        </p:spPr>
        <p:txBody>
          <a:bodyPr wrap="square" lIns="0" tIns="0" rIns="0" bIns="0" rtlCol="0" anchor="ctr"/>
          <a:lstStyle/>
          <a:p>
            <a:pPr algn="l" indent="0" marL="0">
              <a:buNone/>
            </a:pPr>
            <a:r>
              <a:rPr lang="en-US" sz="800" i="1" dirty="0">
                <a:solidFill>
                  <a:srgbClr val="95A5A6"/>
                </a:solidFill>
                <a:latin typeface="Arial" pitchFamily="34" charset="0"/>
                <a:ea typeface="Arial" pitchFamily="34" charset="-122"/>
                <a:cs typeface="Arial" pitchFamily="34" charset="-120"/>
              </a:rPr>
              <a:t>Source: Watcher Dataset. Content type classification via title keyword matching. 30-video cap per channel.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2800" b="1" dirty="0">
                <a:solidFill>
                  <a:srgbClr val="1A1A2E"/>
                </a:solidFill>
                <a:latin typeface="Arial" pitchFamily="34" charset="0"/>
                <a:ea typeface="Arial" pitchFamily="34" charset="-122"/>
                <a:cs typeface="Arial" pitchFamily="34" charset="-120"/>
              </a:rPr>
              <a:t>Multi-Format Release Strategy</a:t>
            </a:r>
            <a:endParaRPr lang="en-US" sz="2800" dirty="0"/>
          </a:p>
        </p:txBody>
      </p:sp>
      <p:sp>
        <p:nvSpPr>
          <p:cNvPr id="3" name="Text 1"/>
          <p:cNvSpPr/>
          <p:nvPr/>
        </p:nvSpPr>
        <p:spPr>
          <a:xfrm>
            <a:off x="548640" y="685800"/>
            <a:ext cx="8046720" cy="320040"/>
          </a:xfrm>
          <a:prstGeom prst="rect">
            <a:avLst/>
          </a:prstGeom>
          <a:noFill/>
          <a:ln/>
        </p:spPr>
        <p:txBody>
          <a:bodyPr wrap="square" lIns="0" tIns="0" rIns="0" bIns="0" rtlCol="0" anchor="ctr"/>
          <a:lstStyle/>
          <a:p>
            <a:pPr algn="l" indent="0" marL="0">
              <a:buNone/>
            </a:pPr>
            <a:r>
              <a:rPr lang="en-US" sz="1100" dirty="0">
                <a:solidFill>
                  <a:srgbClr val="7F8C8D"/>
                </a:solidFill>
                <a:latin typeface="Arial" pitchFamily="34" charset="0"/>
                <a:ea typeface="Arial" pitchFamily="34" charset="-122"/>
                <a:cs typeface="Arial" pitchFamily="34" charset="-120"/>
              </a:rPr>
              <a:t>Channels currently deploying all six monitored formats: OMV + Shorts + Live Session + Lyric Video + Visualiser + BTS</a:t>
            </a:r>
            <a:endParaRPr lang="en-US" sz="1100" dirty="0"/>
          </a:p>
        </p:txBody>
      </p:sp>
      <p:sp>
        <p:nvSpPr>
          <p:cNvPr id="4" name="Shape 2"/>
          <p:cNvSpPr/>
          <p:nvPr/>
        </p:nvSpPr>
        <p:spPr>
          <a:xfrm>
            <a:off x="457200" y="1188720"/>
            <a:ext cx="3200400" cy="2286000"/>
          </a:xfrm>
          <a:prstGeom prst="roundRect">
            <a:avLst>
              <a:gd name="adj" fmla="val 4000"/>
            </a:avLst>
          </a:prstGeom>
          <a:solidFill>
            <a:srgbClr val="2EAD9C"/>
          </a:solidFill>
          <a:ln/>
          <a:effectLst>
            <a:outerShdw sx="100000" sy="100000" kx="0" ky="0" algn="bl" rotWithShape="0" blurRad="50800" dist="12700" dir="2700000">
              <a:srgbClr val="000000">
                <a:alpha val="8000"/>
              </a:srgbClr>
            </a:outerShdw>
          </a:effectLst>
        </p:spPr>
      </p:sp>
      <p:sp>
        <p:nvSpPr>
          <p:cNvPr id="5" name="Text 3"/>
          <p:cNvSpPr/>
          <p:nvPr/>
        </p:nvSpPr>
        <p:spPr>
          <a:xfrm>
            <a:off x="457200" y="1188720"/>
            <a:ext cx="3200400" cy="2286000"/>
          </a:xfrm>
          <a:prstGeom prst="rect">
            <a:avLst/>
          </a:prstGeom>
          <a:noFill/>
          <a:ln/>
        </p:spPr>
        <p:txBody>
          <a:bodyPr wrap="square" lIns="0" tIns="0" rIns="0" bIns="0" rtlCol="0" anchor="ctr"/>
          <a:lstStyle/>
          <a:p>
            <a:pPr algn="ctr" indent="0" marL="0">
              <a:buNone/>
            </a:pPr>
            <a:r>
              <a:rPr lang="en-US" sz="5600" b="1" dirty="0">
                <a:solidFill>
                  <a:srgbClr val="FFFFFF"/>
                </a:solidFill>
              </a:rPr>
              <a:t>2.2%</a:t>
            </a:r>
            <a:endParaRPr lang="en-US" sz="5600" dirty="0"/>
          </a:p>
          <a:p>
            <a:pPr algn="ctr" indent="0" marL="0">
              <a:buNone/>
            </a:pPr>
            <a:r>
              <a:rPr lang="en-US" sz="1400" dirty="0">
                <a:solidFill>
                  <a:srgbClr val="FFFFFF"/>
                </a:solidFill>
              </a:rPr>
              <a:t>3 of 138 channels</a:t>
            </a:r>
            <a:endParaRPr lang="en-US" sz="5600" dirty="0"/>
          </a:p>
          <a:p>
            <a:pPr algn="ctr" indent="0" marL="0">
              <a:buNone/>
            </a:pPr>
            <a:endParaRPr lang="en-US" sz="5600" dirty="0"/>
          </a:p>
          <a:p>
            <a:pPr algn="ctr" indent="0" marL="0">
              <a:buNone/>
            </a:pPr>
            <a:r>
              <a:rPr lang="en-US" sz="1200" b="1" dirty="0">
                <a:solidFill>
                  <a:srgbClr val="FFFFFF"/>
                </a:solidFill>
              </a:rPr>
              <a:t>All 3 are Growing channels</a:t>
            </a:r>
            <a:endParaRPr lang="en-US" sz="5600" dirty="0"/>
          </a:p>
          <a:p>
            <a:pPr algn="ctr" indent="0" marL="0">
              <a:buNone/>
            </a:pPr>
            <a:r>
              <a:rPr lang="en-US" sz="1100" i="1" dirty="0">
                <a:solidFill>
                  <a:srgbClr val="FFFFFF"/>
                </a:solidFill>
              </a:rPr>
              <a:t>Zero Cold channels meet this standard</a:t>
            </a:r>
            <a:endParaRPr lang="en-US" sz="5600" dirty="0"/>
          </a:p>
        </p:txBody>
      </p:sp>
      <p:graphicFrame>
        <p:nvGraphicFramePr>
          <p:cNvPr id="6" name="Chart 0" descr=""/>
          <p:cNvGraphicFramePr/>
          <p:nvPr/>
        </p:nvGraphicFramePr>
        <p:xfrm>
          <a:off x="3931920" y="1188720"/>
          <a:ext cx="4754880" cy="22860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3749040"/>
            <a:ext cx="4023360" cy="502920"/>
          </a:xfrm>
          <a:prstGeom prst="roundRect">
            <a:avLst>
              <a:gd name="adj" fmla="val 10909"/>
            </a:avLst>
          </a:prstGeom>
          <a:solidFill>
            <a:srgbClr val="E8F6F3"/>
          </a:solidFill>
          <a:ln/>
        </p:spPr>
      </p:sp>
      <p:sp>
        <p:nvSpPr>
          <p:cNvPr id="8" name="Text 5"/>
          <p:cNvSpPr/>
          <p:nvPr/>
        </p:nvSpPr>
        <p:spPr>
          <a:xfrm>
            <a:off x="640080" y="3749040"/>
            <a:ext cx="3657600" cy="502920"/>
          </a:xfrm>
          <a:prstGeom prst="rect">
            <a:avLst/>
          </a:prstGeom>
          <a:noFill/>
          <a:ln/>
        </p:spPr>
        <p:txBody>
          <a:bodyPr wrap="square" lIns="0" tIns="0" rIns="0" bIns="0" rtlCol="0" anchor="ctr"/>
          <a:lstStyle/>
          <a:p>
            <a:pPr algn="l" indent="0" marL="0">
              <a:buNone/>
            </a:pPr>
            <a:r>
              <a:rPr lang="en-US" sz="1100" b="1" dirty="0">
                <a:solidFill>
                  <a:srgbClr val="1A8A7D"/>
                </a:solidFill>
                <a:latin typeface="Arial" pitchFamily="34" charset="0"/>
                <a:ea typeface="Arial" pitchFamily="34" charset="-122"/>
                <a:cs typeface="Arial" pitchFamily="34" charset="-120"/>
              </a:rPr>
              <a:t>Growing: 7.0%  ·  Cold: 0.0%  ·  All 3 are Growing</a:t>
            </a:r>
            <a:endParaRPr lang="en-US" sz="1100" dirty="0"/>
          </a:p>
        </p:txBody>
      </p:sp>
      <p:sp>
        <p:nvSpPr>
          <p:cNvPr id="9" name="Shape 6"/>
          <p:cNvSpPr/>
          <p:nvPr/>
        </p:nvSpPr>
        <p:spPr>
          <a:xfrm>
            <a:off x="4754880" y="3749040"/>
            <a:ext cx="3931920" cy="502920"/>
          </a:xfrm>
          <a:prstGeom prst="roundRect">
            <a:avLst>
              <a:gd name="adj" fmla="val 10909"/>
            </a:avLst>
          </a:prstGeom>
          <a:solidFill>
            <a:srgbClr val="F7F8FA"/>
          </a:solidFill>
          <a:ln/>
        </p:spPr>
      </p:sp>
      <p:sp>
        <p:nvSpPr>
          <p:cNvPr id="10" name="Text 7"/>
          <p:cNvSpPr/>
          <p:nvPr/>
        </p:nvSpPr>
        <p:spPr>
          <a:xfrm>
            <a:off x="4937760" y="3749040"/>
            <a:ext cx="3566160" cy="502920"/>
          </a:xfrm>
          <a:prstGeom prst="rect">
            <a:avLst/>
          </a:prstGeom>
          <a:noFill/>
          <a:ln/>
        </p:spPr>
        <p:txBody>
          <a:bodyPr wrap="square" lIns="0" tIns="0" rIns="0" bIns="0" rtlCol="0" anchor="ctr"/>
          <a:lstStyle/>
          <a:p>
            <a:pPr algn="l" indent="0" marL="0">
              <a:buNone/>
            </a:pPr>
            <a:r>
              <a:rPr lang="en-US" sz="1100" b="1" dirty="0">
                <a:solidFill>
                  <a:srgbClr val="7F8C8D"/>
                </a:solidFill>
                <a:latin typeface="Arial" pitchFamily="34" charset="0"/>
                <a:ea typeface="Arial" pitchFamily="34" charset="-122"/>
                <a:cs typeface="Arial" pitchFamily="34" charset="-120"/>
              </a:rPr>
              <a:t>Virgin: 1.2%  ·  Market: 3.6%</a:t>
            </a:r>
            <a:endParaRPr lang="en-US" sz="1100" dirty="0"/>
          </a:p>
        </p:txBody>
      </p:sp>
      <p:sp>
        <p:nvSpPr>
          <p:cNvPr id="11" name="Text 8"/>
          <p:cNvSpPr/>
          <p:nvPr/>
        </p:nvSpPr>
        <p:spPr>
          <a:xfrm>
            <a:off x="457200" y="4434840"/>
            <a:ext cx="8229600" cy="320040"/>
          </a:xfrm>
          <a:prstGeom prst="rect">
            <a:avLst/>
          </a:prstGeom>
          <a:noFill/>
          <a:ln/>
        </p:spPr>
        <p:txBody>
          <a:bodyPr wrap="square" lIns="0" tIns="0" rIns="0" bIns="0" rtlCol="0" anchor="ctr"/>
          <a:lstStyle/>
          <a:p>
            <a:pPr algn="l" indent="0" marL="0">
              <a:buNone/>
            </a:pPr>
            <a:r>
              <a:rPr lang="en-US" sz="900" i="1" dirty="0">
                <a:solidFill>
                  <a:srgbClr val="95A5A6"/>
                </a:solidFill>
                <a:latin typeface="Arial" pitchFamily="34" charset="0"/>
                <a:ea typeface="Arial" pitchFamily="34" charset="-122"/>
                <a:cs typeface="Arial" pitchFamily="34" charset="-120"/>
              </a:rPr>
              <a:t>This is NOT YouTube's official benchmark. This is a Watcher benchmark measuring current adoption of six monitored format types.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2800" b="1" dirty="0">
                <a:solidFill>
                  <a:srgbClr val="1A1A2E"/>
                </a:solidFill>
                <a:latin typeface="Arial" pitchFamily="34" charset="0"/>
                <a:ea typeface="Arial" pitchFamily="34" charset="-122"/>
                <a:cs typeface="Arial" pitchFamily="34" charset="-120"/>
              </a:rPr>
              <a:t>Virgin vs Market</a:t>
            </a:r>
            <a:endParaRPr lang="en-US" sz="2800" dirty="0"/>
          </a:p>
        </p:txBody>
      </p:sp>
      <p:sp>
        <p:nvSpPr>
          <p:cNvPr id="3" name="Text 1"/>
          <p:cNvSpPr/>
          <p:nvPr/>
        </p:nvSpPr>
        <p:spPr>
          <a:xfrm>
            <a:off x="548640" y="685800"/>
            <a:ext cx="8046720" cy="274320"/>
          </a:xfrm>
          <a:prstGeom prst="rect">
            <a:avLst/>
          </a:prstGeom>
          <a:noFill/>
          <a:ln/>
        </p:spPr>
        <p:txBody>
          <a:bodyPr wrap="square" lIns="0" tIns="0" rIns="0" bIns="0" rtlCol="0" anchor="ctr"/>
          <a:lstStyle/>
          <a:p>
            <a:pPr algn="l" indent="0" marL="0">
              <a:buNone/>
            </a:pPr>
            <a:r>
              <a:rPr lang="en-US" sz="1200" dirty="0">
                <a:solidFill>
                  <a:srgbClr val="7F8C8D"/>
                </a:solidFill>
                <a:latin typeface="Arial" pitchFamily="34" charset="0"/>
                <a:ea typeface="Arial" pitchFamily="34" charset="-122"/>
                <a:cs typeface="Arial" pitchFamily="34" charset="-120"/>
              </a:rPr>
              <a:t>82 Virgin channels compared with 56 market channels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560320"/>
                <a:gridCol w="1463040"/>
                <a:gridCol w="1463040"/>
                <a:gridCol w="2743200"/>
              </a:tblGrid>
              <a:tr h="384048">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Format</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A2E"/>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Virgin</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A2E"/>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Market</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A2E"/>
                    </a:solidFill>
                  </a:tcPr>
                </a:tc>
                <a:tc>
                  <a:txBody>
                    <a:bodyPr/>
                    <a:lstStyle/>
                    <a:p>
                      <a:pPr algn="l" indent="0" marL="0">
                        <a:buNone/>
                      </a:pPr>
                      <a:r>
                        <a:rPr lang="en-US" sz="1300" b="1" dirty="0">
                          <a:solidFill>
                            <a:srgbClr val="FFFFFF"/>
                          </a:solidFill>
                          <a:latin typeface="Arial" pitchFamily="34" charset="0"/>
                          <a:ea typeface="Arial" pitchFamily="34" charset="-122"/>
                          <a:cs typeface="Arial" pitchFamily="34" charset="-120"/>
                        </a:rPr>
                        <a:t>Signal</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A2E"/>
                    </a:solidFill>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Official Music Video</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76.8%</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76.8%</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Even</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Shorts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48.8%</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Even</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Live Sessions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48.8%</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60.7%</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E74C3C"/>
                          </a:solidFill>
                          <a:latin typeface="Arial" pitchFamily="34" charset="0"/>
                          <a:ea typeface="Arial" pitchFamily="34" charset="-122"/>
                          <a:cs typeface="Arial" pitchFamily="34" charset="-120"/>
                        </a:rPr>
                        <a:t>Market leads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Lyric Videos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43.9%</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53.6%</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E74C3C"/>
                          </a:solidFill>
                          <a:latin typeface="Arial" pitchFamily="34" charset="0"/>
                          <a:ea typeface="Arial" pitchFamily="34" charset="-122"/>
                          <a:cs typeface="Arial" pitchFamily="34" charset="-120"/>
                        </a:rPr>
                        <a:t>Market leads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Visualisers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51.2%</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42.9%</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8A7D"/>
                          </a:solidFill>
                          <a:latin typeface="Arial" pitchFamily="34" charset="0"/>
                          <a:ea typeface="Arial" pitchFamily="34" charset="-122"/>
                          <a:cs typeface="Arial" pitchFamily="34" charset="-120"/>
                        </a:rPr>
                        <a:t>Virgin leads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BTS</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23.2%</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25.0%</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Even</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84048">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Acoustic</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22.0%</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dirty="0">
                          <a:solidFill>
                            <a:srgbClr val="1A1A2E"/>
                          </a:solidFill>
                          <a:latin typeface="Arial" pitchFamily="34" charset="0"/>
                          <a:ea typeface="Arial" pitchFamily="34" charset="-122"/>
                          <a:cs typeface="Arial" pitchFamily="34" charset="-120"/>
                        </a:rPr>
                        <a:t>7.1%</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300" b="1" dirty="0">
                          <a:solidFill>
                            <a:srgbClr val="1A8A7D"/>
                          </a:solidFill>
                          <a:latin typeface="Arial" pitchFamily="34" charset="0"/>
                          <a:ea typeface="Arial" pitchFamily="34" charset="-122"/>
                          <a:cs typeface="Arial" pitchFamily="34" charset="-120"/>
                        </a:rPr>
                        <a:t>3.1x Virgin</a:t>
                      </a:r>
                      <a:endParaRPr lang="en-US" sz="1300" dirty="0">
                        <a:latin typeface="Arial" charset="0"/>
                        <a:ea typeface="Arial" charset="0"/>
                        <a:cs typeface="Arial" charset="0"/>
                      </a:endParaRPr>
                    </a:p>
                  </a:txBody>
                  <a:tcPr marL="101600" marR="1016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457200" y="4251960"/>
            <a:ext cx="8229600" cy="640080"/>
          </a:xfrm>
          <a:prstGeom prst="roundRect">
            <a:avLst>
              <a:gd name="adj" fmla="val 8571"/>
            </a:avLst>
          </a:prstGeom>
          <a:solidFill>
            <a:srgbClr val="E8F6F3"/>
          </a:solidFill>
          <a:ln/>
        </p:spPr>
      </p:sp>
      <p:sp>
        <p:nvSpPr>
          <p:cNvPr id="6" name="Text 3"/>
          <p:cNvSpPr/>
          <p:nvPr/>
        </p:nvSpPr>
        <p:spPr>
          <a:xfrm>
            <a:off x="640080" y="4251960"/>
            <a:ext cx="7863840" cy="640080"/>
          </a:xfrm>
          <a:prstGeom prst="rect">
            <a:avLst/>
          </a:prstGeom>
          <a:noFill/>
          <a:ln/>
        </p:spPr>
        <p:txBody>
          <a:bodyPr wrap="square" lIns="0" tIns="0" rIns="0" bIns="0" rtlCol="0" anchor="ctr"/>
          <a:lstStyle/>
          <a:p>
            <a:pPr algn="l" indent="0" marL="0">
              <a:buNone/>
            </a:pPr>
            <a:r>
              <a:rPr lang="en-US" sz="1200" b="1" dirty="0">
                <a:solidFill>
                  <a:srgbClr val="1A8A7D"/>
                </a:solidFill>
                <a:latin typeface="Arial" pitchFamily="34" charset="0"/>
                <a:ea typeface="Arial" pitchFamily="34" charset="-122"/>
                <a:cs typeface="Arial" pitchFamily="34" charset="-120"/>
              </a:rPr>
              <a:t>Acoustic is Virgin's largest competitive advantage</a:t>
            </a:r>
            <a:pPr algn="l" indent="0" marL="0">
              <a:buNone/>
            </a:pPr>
            <a:r>
              <a:rPr lang="en-US" sz="1200" dirty="0">
                <a:solidFill>
                  <a:srgbClr val="1A1A2E"/>
                </a:solidFill>
                <a:latin typeface="Arial" pitchFamily="34" charset="0"/>
                <a:ea typeface="Arial" pitchFamily="34" charset="-122"/>
                <a:cs typeface="Arial" pitchFamily="34" charset="-120"/>
              </a:rPr>
              <a:t> — 22.0% vs 7.1% (3.1x). Lyric Videos and Live Sessions represent the biggest opportunities to close.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02920"/>
          </a:xfrm>
          <a:prstGeom prst="rect">
            <a:avLst/>
          </a:prstGeom>
          <a:noFill/>
          <a:ln/>
        </p:spPr>
        <p:txBody>
          <a:bodyPr wrap="square" lIns="0" tIns="0" rIns="0" bIns="0" rtlCol="0" anchor="ctr"/>
          <a:lstStyle/>
          <a:p>
            <a:pPr algn="l" indent="0" marL="0">
              <a:buNone/>
            </a:pPr>
            <a:r>
              <a:rPr lang="en-US" sz="2800" b="1" dirty="0">
                <a:solidFill>
                  <a:srgbClr val="1A1A2E"/>
                </a:solidFill>
                <a:latin typeface="Arial" pitchFamily="34" charset="0"/>
                <a:ea typeface="Arial" pitchFamily="34" charset="-122"/>
                <a:cs typeface="Arial" pitchFamily="34" charset="-120"/>
              </a:rPr>
              <a:t>Market Signals</a:t>
            </a:r>
            <a:endParaRPr lang="en-US" sz="2800" dirty="0"/>
          </a:p>
        </p:txBody>
      </p:sp>
      <p:sp>
        <p:nvSpPr>
          <p:cNvPr id="3" name="Text 1"/>
          <p:cNvSpPr/>
          <p:nvPr/>
        </p:nvSpPr>
        <p:spPr>
          <a:xfrm>
            <a:off x="548640" y="685800"/>
            <a:ext cx="8046720" cy="274320"/>
          </a:xfrm>
          <a:prstGeom prst="rect">
            <a:avLst/>
          </a:prstGeom>
          <a:noFill/>
          <a:ln/>
        </p:spPr>
        <p:txBody>
          <a:bodyPr wrap="square" lIns="0" tIns="0" rIns="0" bIns="0" rtlCol="0" anchor="ctr"/>
          <a:lstStyle/>
          <a:p>
            <a:pPr algn="l" indent="0" marL="0">
              <a:buNone/>
            </a:pPr>
            <a:r>
              <a:rPr lang="en-US" sz="1200" dirty="0">
                <a:solidFill>
                  <a:srgbClr val="7F8C8D"/>
                </a:solidFill>
                <a:latin typeface="Arial" pitchFamily="34" charset="0"/>
                <a:ea typeface="Arial" pitchFamily="34" charset="-122"/>
                <a:cs typeface="Arial" pitchFamily="34" charset="-120"/>
              </a:rPr>
              <a:t>The strongest observations from 138 monitored channels</a:t>
            </a:r>
            <a:endParaRPr lang="en-US" sz="1200" dirty="0"/>
          </a:p>
        </p:txBody>
      </p:sp>
      <p:sp>
        <p:nvSpPr>
          <p:cNvPr id="4" name="Shape 2"/>
          <p:cNvSpPr/>
          <p:nvPr/>
        </p:nvSpPr>
        <p:spPr>
          <a:xfrm>
            <a:off x="457200" y="914400"/>
            <a:ext cx="3886200" cy="960120"/>
          </a:xfrm>
          <a:prstGeom prst="roundRect">
            <a:avLst>
              <a:gd name="adj" fmla="val 5714"/>
            </a:avLst>
          </a:prstGeom>
          <a:solidFill>
            <a:srgbClr val="E8F6F3"/>
          </a:solidFill>
          <a:ln/>
        </p:spPr>
      </p:sp>
      <p:sp>
        <p:nvSpPr>
          <p:cNvPr id="5" name="Text 3"/>
          <p:cNvSpPr/>
          <p:nvPr/>
        </p:nvSpPr>
        <p:spPr>
          <a:xfrm>
            <a:off x="594360" y="914400"/>
            <a:ext cx="3611880" cy="960120"/>
          </a:xfrm>
          <a:prstGeom prst="rect">
            <a:avLst/>
          </a:prstGeom>
          <a:noFill/>
          <a:ln/>
        </p:spPr>
        <p:txBody>
          <a:bodyPr wrap="square" lIns="0" tIns="0" rIns="0" bIns="0" rtlCol="0" anchor="ctr"/>
          <a:lstStyle/>
          <a:p>
            <a:pPr algn="l" indent="0" marL="0">
              <a:buNone/>
            </a:pPr>
            <a:r>
              <a:rPr lang="en-US" sz="2200" b="1" dirty="0">
                <a:solidFill>
                  <a:srgbClr val="1A8A7D"/>
                </a:solidFill>
              </a:rPr>
              <a:t>2.9x</a:t>
            </a:r>
            <a:pPr algn="l" indent="0" marL="0">
              <a:buNone/>
            </a:pPr>
            <a:r>
              <a:rPr lang="en-US" sz="1200" dirty="0">
                <a:solidFill>
                  <a:srgbClr val="1A1A2E"/>
                </a:solidFill>
              </a:rPr>
              <a:t>  Growing channels are 2.9x more likely to publish BTS than Cold channels (44.2% vs 15.2%)</a:t>
            </a:r>
            <a:endParaRPr lang="en-US" sz="2200" dirty="0"/>
          </a:p>
        </p:txBody>
      </p:sp>
      <p:sp>
        <p:nvSpPr>
          <p:cNvPr id="6" name="Shape 4"/>
          <p:cNvSpPr/>
          <p:nvPr/>
        </p:nvSpPr>
        <p:spPr>
          <a:xfrm>
            <a:off x="4572000" y="914400"/>
            <a:ext cx="3886200" cy="960120"/>
          </a:xfrm>
          <a:prstGeom prst="roundRect">
            <a:avLst>
              <a:gd name="adj" fmla="val 5714"/>
            </a:avLst>
          </a:prstGeom>
          <a:solidFill>
            <a:srgbClr val="E8F6F3"/>
          </a:solidFill>
          <a:ln/>
        </p:spPr>
      </p:sp>
      <p:sp>
        <p:nvSpPr>
          <p:cNvPr id="7" name="Text 5"/>
          <p:cNvSpPr/>
          <p:nvPr/>
        </p:nvSpPr>
        <p:spPr>
          <a:xfrm>
            <a:off x="4709160" y="914400"/>
            <a:ext cx="3611880" cy="960120"/>
          </a:xfrm>
          <a:prstGeom prst="rect">
            <a:avLst/>
          </a:prstGeom>
          <a:noFill/>
          <a:ln/>
        </p:spPr>
        <p:txBody>
          <a:bodyPr wrap="square" lIns="0" tIns="0" rIns="0" bIns="0" rtlCol="0" anchor="ctr"/>
          <a:lstStyle/>
          <a:p>
            <a:pPr algn="l" indent="0" marL="0">
              <a:buNone/>
            </a:pPr>
            <a:r>
              <a:rPr lang="en-US" sz="2200" b="1" dirty="0">
                <a:solidFill>
                  <a:srgbClr val="1A8A7D"/>
                </a:solidFill>
              </a:rPr>
              <a:t>3.1x</a:t>
            </a:r>
            <a:pPr algn="l" indent="0" marL="0">
              <a:buNone/>
            </a:pPr>
            <a:r>
              <a:rPr lang="en-US" sz="1200" dirty="0">
                <a:solidFill>
                  <a:srgbClr val="1A1A2E"/>
                </a:solidFill>
              </a:rPr>
              <a:t>  Virgin over-indexes Acoustic sessions 3.1x compared to the wider market (22.0% vs 7.1%)</a:t>
            </a:r>
            <a:endParaRPr lang="en-US" sz="2200" dirty="0"/>
          </a:p>
        </p:txBody>
      </p:sp>
      <p:sp>
        <p:nvSpPr>
          <p:cNvPr id="8" name="Shape 6"/>
          <p:cNvSpPr/>
          <p:nvPr/>
        </p:nvSpPr>
        <p:spPr>
          <a:xfrm>
            <a:off x="457200" y="2057400"/>
            <a:ext cx="3886200" cy="960120"/>
          </a:xfrm>
          <a:prstGeom prst="roundRect">
            <a:avLst>
              <a:gd name="adj" fmla="val 5714"/>
            </a:avLst>
          </a:prstGeom>
          <a:solidFill>
            <a:srgbClr val="2EAD9C"/>
          </a:solidFill>
          <a:ln/>
        </p:spPr>
      </p:sp>
      <p:sp>
        <p:nvSpPr>
          <p:cNvPr id="9" name="Text 7"/>
          <p:cNvSpPr/>
          <p:nvPr/>
        </p:nvSpPr>
        <p:spPr>
          <a:xfrm>
            <a:off x="594360" y="2057400"/>
            <a:ext cx="3611880" cy="960120"/>
          </a:xfrm>
          <a:prstGeom prst="rect">
            <a:avLst/>
          </a:prstGeom>
          <a:noFill/>
          <a:ln/>
        </p:spPr>
        <p:txBody>
          <a:bodyPr wrap="square" lIns="0" tIns="0" rIns="0" bIns="0" rtlCol="0" anchor="ctr"/>
          <a:lstStyle/>
          <a:p>
            <a:pPr algn="l" indent="0" marL="0">
              <a:buNone/>
            </a:pPr>
            <a:r>
              <a:rPr lang="en-US" sz="2200" b="1" dirty="0">
                <a:solidFill>
                  <a:srgbClr val="FFFFFF"/>
                </a:solidFill>
              </a:rPr>
              <a:t>2.2%</a:t>
            </a:r>
            <a:pPr algn="l" indent="0" marL="0">
              <a:buNone/>
            </a:pPr>
            <a:r>
              <a:rPr lang="en-US" sz="1200" dirty="0">
                <a:solidFill>
                  <a:srgbClr val="FFFFFF"/>
                </a:solidFill>
              </a:rPr>
              <a:t>  Only 3 of 138 channels currently execute a Full Multi-Format Release Strategy across all 6 formats</a:t>
            </a:r>
            <a:endParaRPr lang="en-US" sz="2200" dirty="0"/>
          </a:p>
        </p:txBody>
      </p:sp>
      <p:sp>
        <p:nvSpPr>
          <p:cNvPr id="10" name="Shape 8"/>
          <p:cNvSpPr/>
          <p:nvPr/>
        </p:nvSpPr>
        <p:spPr>
          <a:xfrm>
            <a:off x="4572000" y="2057400"/>
            <a:ext cx="3886200" cy="960120"/>
          </a:xfrm>
          <a:prstGeom prst="roundRect">
            <a:avLst>
              <a:gd name="adj" fmla="val 5714"/>
            </a:avLst>
          </a:prstGeom>
          <a:solidFill>
            <a:srgbClr val="F7F8FA"/>
          </a:solidFill>
          <a:ln/>
        </p:spPr>
      </p:sp>
      <p:sp>
        <p:nvSpPr>
          <p:cNvPr id="11" name="Text 9"/>
          <p:cNvSpPr/>
          <p:nvPr/>
        </p:nvSpPr>
        <p:spPr>
          <a:xfrm>
            <a:off x="4709160" y="2057400"/>
            <a:ext cx="3611880" cy="960120"/>
          </a:xfrm>
          <a:prstGeom prst="rect">
            <a:avLst/>
          </a:prstGeom>
          <a:noFill/>
          <a:ln/>
        </p:spPr>
        <p:txBody>
          <a:bodyPr wrap="square" lIns="0" tIns="0" rIns="0" bIns="0" rtlCol="0" anchor="ctr"/>
          <a:lstStyle/>
          <a:p>
            <a:pPr algn="l" indent="0" marL="0">
              <a:buNone/>
            </a:pPr>
            <a:r>
              <a:rPr lang="en-US" sz="2200" b="1" dirty="0">
                <a:solidFill>
                  <a:srgbClr val="1A8A7D"/>
                </a:solidFill>
              </a:rPr>
              <a:t>96%</a:t>
            </a:r>
            <a:pPr algn="l" indent="0" marL="0">
              <a:buNone/>
            </a:pPr>
            <a:r>
              <a:rPr lang="en-US" sz="1200" dirty="0">
                <a:solidFill>
                  <a:srgbClr val="1A1A2E"/>
                </a:solidFill>
              </a:rPr>
              <a:t>  of channels publish nothing in the 7-14 day window after their hero release. The follow-through gap is the single biggest structural opportunity</a:t>
            </a:r>
            <a:endParaRPr lang="en-US" sz="2200" dirty="0"/>
          </a:p>
        </p:txBody>
      </p:sp>
      <p:sp>
        <p:nvSpPr>
          <p:cNvPr id="12" name="Shape 10"/>
          <p:cNvSpPr/>
          <p:nvPr/>
        </p:nvSpPr>
        <p:spPr>
          <a:xfrm>
            <a:off x="457200" y="3200400"/>
            <a:ext cx="3886200" cy="960120"/>
          </a:xfrm>
          <a:prstGeom prst="roundRect">
            <a:avLst>
              <a:gd name="adj" fmla="val 5714"/>
            </a:avLst>
          </a:prstGeom>
          <a:solidFill>
            <a:srgbClr val="F7F8FA"/>
          </a:solidFill>
          <a:ln/>
        </p:spPr>
      </p:sp>
      <p:sp>
        <p:nvSpPr>
          <p:cNvPr id="13" name="Text 11"/>
          <p:cNvSpPr/>
          <p:nvPr/>
        </p:nvSpPr>
        <p:spPr>
          <a:xfrm>
            <a:off x="594360" y="3200400"/>
            <a:ext cx="3611880" cy="960120"/>
          </a:xfrm>
          <a:prstGeom prst="rect">
            <a:avLst/>
          </a:prstGeom>
          <a:noFill/>
          <a:ln/>
        </p:spPr>
        <p:txBody>
          <a:bodyPr wrap="square" lIns="0" tIns="0" rIns="0" bIns="0" rtlCol="0" anchor="ctr"/>
          <a:lstStyle/>
          <a:p>
            <a:pPr algn="l" indent="0" marL="0">
              <a:buNone/>
            </a:pPr>
            <a:r>
              <a:rPr lang="en-US" sz="2200" b="1" dirty="0">
                <a:solidFill>
                  <a:srgbClr val="1A8A7D"/>
                </a:solidFill>
              </a:rPr>
              <a:t>54%</a:t>
            </a:r>
            <a:pPr algn="l" indent="0" marL="0">
              <a:buNone/>
            </a:pPr>
            <a:r>
              <a:rPr lang="en-US" sz="1200" dirty="0">
                <a:solidFill>
                  <a:srgbClr val="1A1A2E"/>
                </a:solidFill>
              </a:rPr>
              <a:t>  Market leads Live Session adoption at 60.7% vs Virgin's 48.8%. An opportunity worth closing</a:t>
            </a:r>
            <a:endParaRPr lang="en-US" sz="2200" dirty="0"/>
          </a:p>
        </p:txBody>
      </p:sp>
      <p:sp>
        <p:nvSpPr>
          <p:cNvPr id="14" name="Shape 12"/>
          <p:cNvSpPr/>
          <p:nvPr/>
        </p:nvSpPr>
        <p:spPr>
          <a:xfrm>
            <a:off x="4572000" y="3200400"/>
            <a:ext cx="3886200" cy="960120"/>
          </a:xfrm>
          <a:prstGeom prst="roundRect">
            <a:avLst>
              <a:gd name="adj" fmla="val 5714"/>
            </a:avLst>
          </a:prstGeom>
          <a:solidFill>
            <a:srgbClr val="F7F8FA"/>
          </a:solidFill>
          <a:ln/>
        </p:spPr>
      </p:sp>
      <p:sp>
        <p:nvSpPr>
          <p:cNvPr id="15" name="Text 13"/>
          <p:cNvSpPr/>
          <p:nvPr/>
        </p:nvSpPr>
        <p:spPr>
          <a:xfrm>
            <a:off x="4709160" y="3200400"/>
            <a:ext cx="3611880" cy="960120"/>
          </a:xfrm>
          <a:prstGeom prst="rect">
            <a:avLst/>
          </a:prstGeom>
          <a:noFill/>
          <a:ln/>
        </p:spPr>
        <p:txBody>
          <a:bodyPr wrap="square" lIns="0" tIns="0" rIns="0" bIns="0" rtlCol="0" anchor="ctr"/>
          <a:lstStyle/>
          <a:p>
            <a:pPr algn="l" indent="0" marL="0">
              <a:buNone/>
            </a:pPr>
            <a:r>
              <a:rPr lang="en-US" sz="2200" b="1" dirty="0">
                <a:solidFill>
                  <a:srgbClr val="1A8A7D"/>
                </a:solidFill>
              </a:rPr>
              <a:t>Gap</a:t>
            </a:r>
            <a:pPr algn="l" indent="0" marL="0">
              <a:buNone/>
            </a:pPr>
            <a:r>
              <a:rPr lang="en-US" sz="1200" dirty="0">
                <a:solidFill>
                  <a:srgbClr val="1A1A2E"/>
                </a:solidFill>
              </a:rPr>
              <a:t>  Lyric Videos: Market 53.6% vs Virgin 43.9%. Virgin's largest format gap to close</a:t>
            </a:r>
            <a:endParaRPr lang="en-US" sz="2200" dirty="0"/>
          </a:p>
        </p:txBody>
      </p:sp>
      <p:sp>
        <p:nvSpPr>
          <p:cNvPr id="16" name="Text 14"/>
          <p:cNvSpPr/>
          <p:nvPr/>
        </p:nvSpPr>
        <p:spPr>
          <a:xfrm>
            <a:off x="457200" y="4434840"/>
            <a:ext cx="8229600" cy="320040"/>
          </a:xfrm>
          <a:prstGeom prst="rect">
            <a:avLst/>
          </a:prstGeom>
          <a:noFill/>
          <a:ln/>
        </p:spPr>
        <p:txBody>
          <a:bodyPr wrap="square" lIns="0" tIns="0" rIns="0" bIns="0" rtlCol="0" anchor="ctr"/>
          <a:lstStyle/>
          <a:p>
            <a:pPr algn="l" indent="0" marL="0">
              <a:buNone/>
            </a:pPr>
            <a:r>
              <a:rPr lang="en-US" sz="900" i="1" dirty="0">
                <a:solidFill>
                  <a:srgbClr val="95A5A6"/>
                </a:solidFill>
                <a:latin typeface="Arial" pitchFamily="34" charset="0"/>
                <a:ea typeface="Arial" pitchFamily="34" charset="-122"/>
                <a:cs typeface="Arial" pitchFamily="34" charset="-120"/>
              </a:rPr>
              <a:t>Every observation above is a raw calculation from the Watcher dataset. Reproducible. Transparent.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1097280"/>
            <a:ext cx="7680960" cy="457200"/>
          </a:xfrm>
          <a:prstGeom prst="rect">
            <a:avLst/>
          </a:prstGeom>
          <a:noFill/>
          <a:ln/>
        </p:spPr>
        <p:txBody>
          <a:bodyPr wrap="square" lIns="0" tIns="0" rIns="0" bIns="0" rtlCol="0" anchor="ctr"/>
          <a:lstStyle/>
          <a:p>
            <a:pPr algn="l" indent="0" marL="0">
              <a:buNone/>
            </a:pPr>
            <a:r>
              <a:rPr lang="en-US" sz="1400" b="1" spc="600" kern="0" dirty="0">
                <a:solidFill>
                  <a:srgbClr val="2EAD9C"/>
                </a:solidFill>
                <a:latin typeface="Arial" pitchFamily="34" charset="0"/>
                <a:ea typeface="Arial" pitchFamily="34" charset="-122"/>
                <a:cs typeface="Arial" pitchFamily="34" charset="-120"/>
              </a:rPr>
              <a:t>BENCHMARK CAMPAIGNS</a:t>
            </a:r>
            <a:endParaRPr lang="en-US" sz="1400" dirty="0"/>
          </a:p>
        </p:txBody>
      </p:sp>
      <p:sp>
        <p:nvSpPr>
          <p:cNvPr id="3" name="Text 1"/>
          <p:cNvSpPr/>
          <p:nvPr/>
        </p:nvSpPr>
        <p:spPr>
          <a:xfrm>
            <a:off x="731520" y="1645920"/>
            <a:ext cx="7680960" cy="1280160"/>
          </a:xfrm>
          <a:prstGeom prst="rect">
            <a:avLst/>
          </a:prstGeom>
          <a:noFill/>
          <a:ln/>
        </p:spPr>
        <p:txBody>
          <a:bodyPr wrap="square" lIns="0" tIns="0" rIns="0" bIns="0" rtlCol="0" anchor="ctr"/>
          <a:lstStyle/>
          <a:p>
            <a:pPr algn="l" indent="0" marL="0">
              <a:buNone/>
            </a:pPr>
            <a:r>
              <a:rPr lang="en-US" sz="4200" b="1" dirty="0">
                <a:solidFill>
                  <a:srgbClr val="FFFFFF"/>
                </a:solidFill>
                <a:latin typeface="Arial" pitchFamily="34" charset="0"/>
                <a:ea typeface="Arial" pitchFamily="34" charset="-122"/>
                <a:cs typeface="Arial" pitchFamily="34" charset="-120"/>
              </a:rPr>
              <a:t>Who is doing</a:t>
            </a:r>
            <a:endParaRPr lang="en-US" sz="4200" dirty="0"/>
          </a:p>
          <a:p>
            <a:pPr algn="l" indent="0" marL="0">
              <a:buNone/>
            </a:pPr>
            <a:r>
              <a:rPr lang="en-US" sz="4200" b="1" dirty="0">
                <a:solidFill>
                  <a:srgbClr val="FFFFFF"/>
                </a:solidFill>
                <a:latin typeface="Arial" pitchFamily="34" charset="0"/>
                <a:ea typeface="Arial" pitchFamily="34" charset="-122"/>
                <a:cs typeface="Arial" pitchFamily="34" charset="-120"/>
              </a:rPr>
              <a:t>this well?</a:t>
            </a:r>
            <a:endParaRPr lang="en-US" sz="4200" dirty="0"/>
          </a:p>
        </p:txBody>
      </p:sp>
      <p:sp>
        <p:nvSpPr>
          <p:cNvPr id="4" name="Text 2"/>
          <p:cNvSpPr/>
          <p:nvPr/>
        </p:nvSpPr>
        <p:spPr>
          <a:xfrm>
            <a:off x="731520" y="3200400"/>
            <a:ext cx="7680960" cy="731520"/>
          </a:xfrm>
          <a:prstGeom prst="rect">
            <a:avLst/>
          </a:prstGeom>
          <a:noFill/>
          <a:ln/>
        </p:spPr>
        <p:txBody>
          <a:bodyPr wrap="square" lIns="0" tIns="0" rIns="0" bIns="0" rtlCol="0" anchor="ctr"/>
          <a:lstStyle/>
          <a:p>
            <a:pPr algn="l" indent="0" marL="0">
              <a:buNone/>
            </a:pPr>
            <a:r>
              <a:rPr lang="en-US" sz="1400" dirty="0">
                <a:solidFill>
                  <a:srgbClr val="7F8C8D"/>
                </a:solidFill>
                <a:latin typeface="Arial" pitchFamily="34" charset="0"/>
                <a:ea typeface="Arial" pitchFamily="34" charset="-122"/>
                <a:cs typeface="Arial" pitchFamily="34" charset="-120"/>
              </a:rPr>
              <a:t>Each artist answers one planning question.</a:t>
            </a:r>
            <a:endParaRPr lang="en-US" sz="1400" dirty="0"/>
          </a:p>
          <a:p>
            <a:pPr algn="l" indent="0" marL="0">
              <a:buNone/>
            </a:pPr>
            <a:r>
              <a:rPr lang="en-US" sz="1400" dirty="0">
                <a:solidFill>
                  <a:srgbClr val="7F8C8D"/>
                </a:solidFill>
                <a:latin typeface="Arial" pitchFamily="34" charset="0"/>
                <a:ea typeface="Arial" pitchFamily="34" charset="-122"/>
                <a:cs typeface="Arial" pitchFamily="34" charset="-120"/>
              </a:rPr>
              <a:t>Every benchmark is calculated from the Watcher dataset.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Tove Lo</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do you execute a multi-format release strategy?</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Only 3 of 138 monitored channels currently deploy all six monitored formats. 84% use fewer than five. Multi-format execution is rare — and the gap between deploying a few formats and deploying many is where campaign depth becomes visible.</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Tove Lo deploys 5 of 6 monitored formats across 30 assets: OMV, Live Session, Lyric Video, Visualiser, and BTS. Top 17% for format diversity across the dataset. One of 22 channels deploying 5+ formats.</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A single release cycle can anchor OMV, lyric video, visualiser, BTS, and live session. Multi-format depth is not about volume — it is about deliberate coverage across distinct content types.</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5/6 Multi-Format</a:t>
            </a:r>
            <a:endParaRPr lang="en-US" sz="900" dirty="0"/>
          </a:p>
        </p:txBody>
      </p:sp>
      <p:sp>
        <p:nvSpPr>
          <p:cNvPr id="12" name="Shape 10"/>
          <p:cNvSpPr/>
          <p:nvPr/>
        </p:nvSpPr>
        <p:spPr>
          <a:xfrm>
            <a:off x="2185416" y="4297680"/>
            <a:ext cx="2249424" cy="292608"/>
          </a:xfrm>
          <a:prstGeom prst="roundRect">
            <a:avLst>
              <a:gd name="adj" fmla="val 50000"/>
            </a:avLst>
          </a:prstGeom>
          <a:solidFill>
            <a:srgbClr val="1A1A2E"/>
          </a:solidFill>
          <a:ln/>
        </p:spPr>
      </p:sp>
      <p:sp>
        <p:nvSpPr>
          <p:cNvPr id="13" name="Text 11"/>
          <p:cNvSpPr/>
          <p:nvPr/>
        </p:nvSpPr>
        <p:spPr>
          <a:xfrm>
            <a:off x="2185416" y="4297680"/>
            <a:ext cx="2249424"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Top 17% Format Diversity</a:t>
            </a:r>
            <a:endParaRPr lang="en-US" sz="900" dirty="0"/>
          </a:p>
        </p:txBody>
      </p:sp>
      <p:sp>
        <p:nvSpPr>
          <p:cNvPr id="14" name="Shape 12"/>
          <p:cNvSpPr/>
          <p:nvPr/>
        </p:nvSpPr>
        <p:spPr>
          <a:xfrm>
            <a:off x="4572000" y="4297680"/>
            <a:ext cx="1591056" cy="292608"/>
          </a:xfrm>
          <a:prstGeom prst="roundRect">
            <a:avLst>
              <a:gd name="adj" fmla="val 50000"/>
            </a:avLst>
          </a:prstGeom>
          <a:solidFill>
            <a:srgbClr val="1A1A2E"/>
          </a:solidFill>
          <a:ln/>
        </p:spPr>
      </p:sp>
      <p:sp>
        <p:nvSpPr>
          <p:cNvPr id="15" name="Text 13"/>
          <p:cNvSpPr/>
          <p:nvPr/>
        </p:nvSpPr>
        <p:spPr>
          <a:xfrm>
            <a:off x="45720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French The Kid</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should Shorts be integrated into a release campaign?</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48% of monitored channels use Shorts. But structured Shorts deployment — teasers, countdowns, behind-the-scenes clips — remains relatively uncommon. Most channels use Shorts sporadically rather than as a deliberate sequencing tool.</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French The Kid runs 3 Shorts across 30 campaign assets, deploying 3 of 6 monitored formats (OMV, Visualiser, Shorts). Shorts are used as targeted moments around releases rather than high-volume filler content.</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Shorts do not need to be high-volume to add value. Even a small number of well-timed Shorts — placed around key release moments — can extend campaign visibility without diluting the core content.</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09728"/>
            <a:ext cx="5029200" cy="347472"/>
          </a:xfrm>
          <a:prstGeom prst="rect">
            <a:avLst/>
          </a:prstGeom>
          <a:noFill/>
          <a:ln/>
        </p:spPr>
        <p:txBody>
          <a:bodyPr wrap="square" lIns="0" tIns="0" rIns="0" bIns="0" rtlCol="0" anchor="ctr"/>
          <a:lstStyle/>
          <a:p>
            <a:pPr indent="0" marL="0">
              <a:buNone/>
            </a:pPr>
            <a:r>
              <a:rPr lang="en-US" sz="2600" b="1" dirty="0">
                <a:solidFill>
                  <a:srgbClr val="1A8A7D"/>
                </a:solidFill>
                <a:latin typeface="Arial" pitchFamily="34" charset="0"/>
                <a:ea typeface="Arial" pitchFamily="34" charset="-122"/>
                <a:cs typeface="Arial" pitchFamily="34" charset="-120"/>
              </a:rPr>
              <a:t>GENER8ION</a:t>
            </a:r>
            <a:endParaRPr lang="en-US" sz="2600" dirty="0"/>
          </a:p>
        </p:txBody>
      </p:sp>
      <p:sp>
        <p:nvSpPr>
          <p:cNvPr id="3" name="Shape 1"/>
          <p:cNvSpPr/>
          <p:nvPr/>
        </p:nvSpPr>
        <p:spPr>
          <a:xfrm>
            <a:off x="6675120" y="128016"/>
            <a:ext cx="2011680" cy="274320"/>
          </a:xfrm>
          <a:prstGeom prst="roundRect">
            <a:avLst>
              <a:gd name="adj" fmla="val 50000"/>
            </a:avLst>
          </a:prstGeom>
          <a:solidFill>
            <a:srgbClr val="1A1A2E"/>
          </a:solidFill>
          <a:ln/>
        </p:spPr>
      </p:sp>
      <p:sp>
        <p:nvSpPr>
          <p:cNvPr id="4" name="Text 2"/>
          <p:cNvSpPr/>
          <p:nvPr/>
        </p:nvSpPr>
        <p:spPr>
          <a:xfrm>
            <a:off x="6675120" y="128016"/>
            <a:ext cx="2011680" cy="274320"/>
          </a:xfrm>
          <a:prstGeom prst="rect">
            <a:avLst/>
          </a:prstGeom>
          <a:noFill/>
          <a:ln/>
        </p:spPr>
        <p:txBody>
          <a:bodyPr wrap="square" lIns="0" tIns="0" rIns="0" bIns="0" rtlCol="0" anchor="ctr"/>
          <a:lstStyle/>
          <a:p>
            <a:pPr algn="ctr" indent="0" marL="0">
              <a:buNone/>
            </a:pPr>
            <a:r>
              <a:rPr lang="en-US" sz="850" b="1" spc="200" kern="0" dirty="0">
                <a:solidFill>
                  <a:srgbClr val="2EAD9C"/>
                </a:solidFill>
                <a:latin typeface="Arial" pitchFamily="34" charset="0"/>
                <a:ea typeface="Arial" pitchFamily="34" charset="-122"/>
                <a:cs typeface="Arial" pitchFamily="34" charset="-120"/>
              </a:rPr>
              <a:t>EXTREME CASE STUDY</a:t>
            </a:r>
            <a:endParaRPr lang="en-US" sz="850" dirty="0"/>
          </a:p>
        </p:txBody>
      </p:sp>
      <p:sp>
        <p:nvSpPr>
          <p:cNvPr id="5" name="Text 3"/>
          <p:cNvSpPr/>
          <p:nvPr/>
        </p:nvSpPr>
        <p:spPr>
          <a:xfrm>
            <a:off x="548640" y="438912"/>
            <a:ext cx="8046720" cy="201168"/>
          </a:xfrm>
          <a:prstGeom prst="rect">
            <a:avLst/>
          </a:prstGeom>
          <a:noFill/>
          <a:ln/>
        </p:spPr>
        <p:txBody>
          <a:bodyPr wrap="square" lIns="0" tIns="0" rIns="0" bIns="0" rtlCol="0" anchor="ctr"/>
          <a:lstStyle/>
          <a:p>
            <a:pPr indent="0" marL="0">
              <a:buNone/>
            </a:pPr>
            <a:r>
              <a:rPr lang="en-US" sz="1200" b="1" i="1" dirty="0">
                <a:solidFill>
                  <a:srgbClr val="7F8C8D"/>
                </a:solidFill>
                <a:latin typeface="Arial" pitchFamily="34" charset="0"/>
                <a:ea typeface="Arial" pitchFamily="34" charset="-122"/>
                <a:cs typeface="Arial" pitchFamily="34" charset="-120"/>
              </a:rPr>
              <a:t>The Halo Effect: </a:t>
            </a:r>
            <a:pPr indent="0" marL="0">
              <a:buNone/>
            </a:pPr>
            <a:r>
              <a:rPr lang="en-US" sz="1200" i="1" dirty="0">
                <a:solidFill>
                  <a:srgbClr val="7F8C8D"/>
                </a:solidFill>
                <a:latin typeface="Arial" pitchFamily="34" charset="0"/>
                <a:ea typeface="Arial" pitchFamily="34" charset="-122"/>
                <a:cs typeface="Arial" pitchFamily="34" charset="-120"/>
              </a:rPr>
              <a:t>A breakout video moment can travel beyond YouTube</a:t>
            </a:r>
            <a:endParaRPr lang="en-US" sz="1200" dirty="0"/>
          </a:p>
        </p:txBody>
      </p:sp>
      <p:sp>
        <p:nvSpPr>
          <p:cNvPr id="6" name="Shape 4"/>
          <p:cNvSpPr/>
          <p:nvPr/>
        </p:nvSpPr>
        <p:spPr>
          <a:xfrm>
            <a:off x="457200" y="749808"/>
            <a:ext cx="3246120" cy="2633472"/>
          </a:xfrm>
          <a:prstGeom prst="roundRect">
            <a:avLst>
              <a:gd name="adj" fmla="val 2083"/>
            </a:avLst>
          </a:prstGeom>
          <a:solidFill>
            <a:srgbClr val="1A1A2E"/>
          </a:solidFill>
          <a:ln/>
          <a:effectLst>
            <a:outerShdw sx="100000" sy="100000" kx="0" ky="0" algn="bl" rotWithShape="0" blurRad="50800" dist="12700" dir="2700000">
              <a:srgbClr val="000000">
                <a:alpha val="8000"/>
              </a:srgbClr>
            </a:outerShdw>
          </a:effectLst>
        </p:spPr>
      </p:sp>
      <p:sp>
        <p:nvSpPr>
          <p:cNvPr id="7" name="Text 5"/>
          <p:cNvSpPr/>
          <p:nvPr/>
        </p:nvSpPr>
        <p:spPr>
          <a:xfrm>
            <a:off x="685800" y="841248"/>
            <a:ext cx="2788920" cy="146304"/>
          </a:xfrm>
          <a:prstGeom prst="rect">
            <a:avLst/>
          </a:prstGeom>
          <a:noFill/>
          <a:ln/>
        </p:spPr>
        <p:txBody>
          <a:bodyPr wrap="square" lIns="0" tIns="0" rIns="0" bIns="0" rtlCol="0" anchor="ctr"/>
          <a:lstStyle/>
          <a:p>
            <a:pPr indent="0" marL="0">
              <a:buNone/>
            </a:pPr>
            <a:r>
              <a:rPr lang="en-US" sz="850" b="1" spc="300" kern="0" dirty="0">
                <a:solidFill>
                  <a:srgbClr val="7F8C8D"/>
                </a:solidFill>
                <a:latin typeface="Arial" pitchFamily="34" charset="0"/>
                <a:ea typeface="Arial" pitchFamily="34" charset="-122"/>
                <a:cs typeface="Arial" pitchFamily="34" charset="-120"/>
              </a:rPr>
              <a:t>THE YOUTUBE MOMENT</a:t>
            </a:r>
            <a:endParaRPr lang="en-US" sz="850" dirty="0"/>
          </a:p>
        </p:txBody>
      </p:sp>
      <p:sp>
        <p:nvSpPr>
          <p:cNvPr id="8" name="Shape 6"/>
          <p:cNvSpPr/>
          <p:nvPr/>
        </p:nvSpPr>
        <p:spPr>
          <a:xfrm>
            <a:off x="694944" y="1110996"/>
            <a:ext cx="73152" cy="73152"/>
          </a:xfrm>
          <a:prstGeom prst="ellipse">
            <a:avLst/>
          </a:prstGeom>
          <a:solidFill>
            <a:srgbClr val="2EAD9C"/>
          </a:solidFill>
          <a:ln/>
        </p:spPr>
      </p:sp>
      <p:sp>
        <p:nvSpPr>
          <p:cNvPr id="9" name="Shape 7"/>
          <p:cNvSpPr/>
          <p:nvPr/>
        </p:nvSpPr>
        <p:spPr>
          <a:xfrm>
            <a:off x="726034" y="1188720"/>
            <a:ext cx="10973" cy="484632"/>
          </a:xfrm>
          <a:prstGeom prst="rect">
            <a:avLst/>
          </a:prstGeom>
          <a:solidFill>
            <a:srgbClr val="1E756B"/>
          </a:solidFill>
          <a:ln/>
        </p:spPr>
      </p:sp>
      <p:sp>
        <p:nvSpPr>
          <p:cNvPr id="10" name="Text 8"/>
          <p:cNvSpPr/>
          <p:nvPr/>
        </p:nvSpPr>
        <p:spPr>
          <a:xfrm>
            <a:off x="914400" y="1069848"/>
            <a:ext cx="2560320" cy="164592"/>
          </a:xfrm>
          <a:prstGeom prst="rect">
            <a:avLst/>
          </a:prstGeom>
          <a:noFill/>
          <a:ln/>
        </p:spPr>
        <p:txBody>
          <a:bodyPr wrap="square" lIns="0" tIns="0" rIns="0" bIns="0" rtlCol="0" anchor="ctr"/>
          <a:lstStyle/>
          <a:p>
            <a:pPr indent="0" marL="0">
              <a:buNone/>
            </a:pPr>
            <a:r>
              <a:rPr lang="en-US" sz="1100" b="1" dirty="0">
                <a:solidFill>
                  <a:srgbClr val="2EAD9C"/>
                </a:solidFill>
                <a:latin typeface="Arial" pitchFamily="34" charset="0"/>
                <a:ea typeface="Arial" pitchFamily="34" charset="-122"/>
                <a:cs typeface="Arial" pitchFamily="34" charset="-120"/>
              </a:rPr>
              <a:t>APRIL 24</a:t>
            </a:r>
            <a:endParaRPr lang="en-US" sz="1100" dirty="0"/>
          </a:p>
        </p:txBody>
      </p:sp>
      <p:sp>
        <p:nvSpPr>
          <p:cNvPr id="11" name="Text 9"/>
          <p:cNvSpPr/>
          <p:nvPr/>
        </p:nvSpPr>
        <p:spPr>
          <a:xfrm>
            <a:off x="914400" y="1225296"/>
            <a:ext cx="2560320" cy="310896"/>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YouTube hero video premieres</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Video-first creative breakout</a:t>
            </a:r>
            <a:endParaRPr lang="en-US" sz="900" dirty="0"/>
          </a:p>
        </p:txBody>
      </p:sp>
      <p:sp>
        <p:nvSpPr>
          <p:cNvPr id="12" name="Shape 10"/>
          <p:cNvSpPr/>
          <p:nvPr/>
        </p:nvSpPr>
        <p:spPr>
          <a:xfrm>
            <a:off x="694944" y="1641348"/>
            <a:ext cx="73152" cy="73152"/>
          </a:xfrm>
          <a:prstGeom prst="ellipse">
            <a:avLst/>
          </a:prstGeom>
          <a:solidFill>
            <a:srgbClr val="2EAD9C"/>
          </a:solidFill>
          <a:ln/>
        </p:spPr>
      </p:sp>
      <p:sp>
        <p:nvSpPr>
          <p:cNvPr id="13" name="Shape 11"/>
          <p:cNvSpPr/>
          <p:nvPr/>
        </p:nvSpPr>
        <p:spPr>
          <a:xfrm>
            <a:off x="726034" y="1719072"/>
            <a:ext cx="10973" cy="484632"/>
          </a:xfrm>
          <a:prstGeom prst="rect">
            <a:avLst/>
          </a:prstGeom>
          <a:solidFill>
            <a:srgbClr val="1E756B"/>
          </a:solidFill>
          <a:ln/>
        </p:spPr>
      </p:sp>
      <p:sp>
        <p:nvSpPr>
          <p:cNvPr id="14" name="Text 12"/>
          <p:cNvSpPr/>
          <p:nvPr/>
        </p:nvSpPr>
        <p:spPr>
          <a:xfrm>
            <a:off x="914400" y="1600200"/>
            <a:ext cx="2560320" cy="164592"/>
          </a:xfrm>
          <a:prstGeom prst="rect">
            <a:avLst/>
          </a:prstGeom>
          <a:noFill/>
          <a:ln/>
        </p:spPr>
        <p:txBody>
          <a:bodyPr wrap="square" lIns="0" tIns="0" rIns="0" bIns="0" rtlCol="0" anchor="ctr"/>
          <a:lstStyle/>
          <a:p>
            <a:pPr indent="0" marL="0">
              <a:buNone/>
            </a:pPr>
            <a:r>
              <a:rPr lang="en-US" sz="1100" b="1" dirty="0">
                <a:solidFill>
                  <a:srgbClr val="2EAD9C"/>
                </a:solidFill>
                <a:latin typeface="Arial" pitchFamily="34" charset="0"/>
                <a:ea typeface="Arial" pitchFamily="34" charset="-122"/>
                <a:cs typeface="Arial" pitchFamily="34" charset="-120"/>
              </a:rPr>
              <a:t>APRIL 25</a:t>
            </a:r>
            <a:endParaRPr lang="en-US" sz="1100" dirty="0"/>
          </a:p>
        </p:txBody>
      </p:sp>
      <p:sp>
        <p:nvSpPr>
          <p:cNvPr id="15" name="Text 13"/>
          <p:cNvSpPr/>
          <p:nvPr/>
        </p:nvSpPr>
        <p:spPr>
          <a:xfrm>
            <a:off x="914400" y="1755648"/>
            <a:ext cx="2560320" cy="310896"/>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Spotify streams reach</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223,893 in a single day</a:t>
            </a:r>
            <a:endParaRPr lang="en-US" sz="900" dirty="0"/>
          </a:p>
        </p:txBody>
      </p:sp>
      <p:sp>
        <p:nvSpPr>
          <p:cNvPr id="16" name="Shape 14"/>
          <p:cNvSpPr/>
          <p:nvPr/>
        </p:nvSpPr>
        <p:spPr>
          <a:xfrm>
            <a:off x="694944" y="2171700"/>
            <a:ext cx="73152" cy="73152"/>
          </a:xfrm>
          <a:prstGeom prst="ellipse">
            <a:avLst/>
          </a:prstGeom>
          <a:solidFill>
            <a:srgbClr val="2EAD9C"/>
          </a:solidFill>
          <a:ln/>
        </p:spPr>
      </p:sp>
      <p:sp>
        <p:nvSpPr>
          <p:cNvPr id="17" name="Shape 15"/>
          <p:cNvSpPr/>
          <p:nvPr/>
        </p:nvSpPr>
        <p:spPr>
          <a:xfrm>
            <a:off x="726034" y="2249424"/>
            <a:ext cx="10973" cy="484632"/>
          </a:xfrm>
          <a:prstGeom prst="rect">
            <a:avLst/>
          </a:prstGeom>
          <a:solidFill>
            <a:srgbClr val="1E756B"/>
          </a:solidFill>
          <a:ln/>
        </p:spPr>
      </p:sp>
      <p:sp>
        <p:nvSpPr>
          <p:cNvPr id="18" name="Text 16"/>
          <p:cNvSpPr/>
          <p:nvPr/>
        </p:nvSpPr>
        <p:spPr>
          <a:xfrm>
            <a:off x="914400" y="2130552"/>
            <a:ext cx="2560320" cy="164592"/>
          </a:xfrm>
          <a:prstGeom prst="rect">
            <a:avLst/>
          </a:prstGeom>
          <a:noFill/>
          <a:ln/>
        </p:spPr>
        <p:txBody>
          <a:bodyPr wrap="square" lIns="0" tIns="0" rIns="0" bIns="0" rtlCol="0" anchor="ctr"/>
          <a:lstStyle/>
          <a:p>
            <a:pPr indent="0" marL="0">
              <a:buNone/>
            </a:pPr>
            <a:r>
              <a:rPr lang="en-US" sz="1100" b="1" dirty="0">
                <a:solidFill>
                  <a:srgbClr val="2EAD9C"/>
                </a:solidFill>
                <a:latin typeface="Arial" pitchFamily="34" charset="0"/>
                <a:ea typeface="Arial" pitchFamily="34" charset="-122"/>
                <a:cs typeface="Arial" pitchFamily="34" charset="-120"/>
              </a:rPr>
              <a:t>APRIL 29</a:t>
            </a:r>
            <a:endParaRPr lang="en-US" sz="1100" dirty="0"/>
          </a:p>
        </p:txBody>
      </p:sp>
      <p:sp>
        <p:nvSpPr>
          <p:cNvPr id="19" name="Text 17"/>
          <p:cNvSpPr/>
          <p:nvPr/>
        </p:nvSpPr>
        <p:spPr>
          <a:xfrm>
            <a:off x="914400" y="2286000"/>
            <a:ext cx="2560320" cy="310896"/>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Saves reach 67,988/day</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Playlist adds reach 37,883/day</a:t>
            </a:r>
            <a:endParaRPr lang="en-US" sz="900" dirty="0"/>
          </a:p>
        </p:txBody>
      </p:sp>
      <p:sp>
        <p:nvSpPr>
          <p:cNvPr id="20" name="Shape 18"/>
          <p:cNvSpPr/>
          <p:nvPr/>
        </p:nvSpPr>
        <p:spPr>
          <a:xfrm>
            <a:off x="694944" y="2702052"/>
            <a:ext cx="73152" cy="73152"/>
          </a:xfrm>
          <a:prstGeom prst="ellipse">
            <a:avLst/>
          </a:prstGeom>
          <a:solidFill>
            <a:srgbClr val="2EAD9C"/>
          </a:solidFill>
          <a:ln/>
        </p:spPr>
      </p:sp>
      <p:sp>
        <p:nvSpPr>
          <p:cNvPr id="21" name="Text 19"/>
          <p:cNvSpPr/>
          <p:nvPr/>
        </p:nvSpPr>
        <p:spPr>
          <a:xfrm>
            <a:off x="914400" y="2660904"/>
            <a:ext cx="2560320" cy="164592"/>
          </a:xfrm>
          <a:prstGeom prst="rect">
            <a:avLst/>
          </a:prstGeom>
          <a:noFill/>
          <a:ln/>
        </p:spPr>
        <p:txBody>
          <a:bodyPr wrap="square" lIns="0" tIns="0" rIns="0" bIns="0" rtlCol="0" anchor="ctr"/>
          <a:lstStyle/>
          <a:p>
            <a:pPr indent="0" marL="0">
              <a:buNone/>
            </a:pPr>
            <a:r>
              <a:rPr lang="en-US" sz="1100" b="1" dirty="0">
                <a:solidFill>
                  <a:srgbClr val="2EAD9C"/>
                </a:solidFill>
                <a:latin typeface="Arial" pitchFamily="34" charset="0"/>
                <a:ea typeface="Arial" pitchFamily="34" charset="-122"/>
                <a:cs typeface="Arial" pitchFamily="34" charset="-120"/>
              </a:rPr>
              <a:t>SUSTAINED</a:t>
            </a:r>
            <a:endParaRPr lang="en-US" sz="1100" dirty="0"/>
          </a:p>
        </p:txBody>
      </p:sp>
      <p:sp>
        <p:nvSpPr>
          <p:cNvPr id="22" name="Text 20"/>
          <p:cNvSpPr/>
          <p:nvPr/>
        </p:nvSpPr>
        <p:spPr>
          <a:xfrm>
            <a:off x="914400" y="2816352"/>
            <a:ext cx="2560320" cy="310896"/>
          </a:xfrm>
          <a:prstGeom prst="rect">
            <a:avLst/>
          </a:prstGeom>
          <a:noFill/>
          <a:ln/>
        </p:spPr>
        <p:txBody>
          <a:bodyPr wrap="square" lIns="0" tIns="0" rIns="0" bIns="0" rtlCol="0" anchor="ctr"/>
          <a:lstStyle/>
          <a:p>
            <a:pPr indent="0" marL="0">
              <a:buNone/>
            </a:pPr>
            <a:r>
              <a:rPr lang="en-US" sz="900" dirty="0">
                <a:solidFill>
                  <a:srgbClr val="FFFFFF"/>
                </a:solidFill>
                <a:latin typeface="Arial" pitchFamily="34" charset="0"/>
                <a:ea typeface="Arial" pitchFamily="34" charset="-122"/>
                <a:cs typeface="Arial" pitchFamily="34" charset="-120"/>
              </a:rPr>
              <a:t>Consumption remains elevated</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above pre-breakout baseline</a:t>
            </a:r>
            <a:endParaRPr lang="en-US" sz="900" dirty="0"/>
          </a:p>
        </p:txBody>
      </p:sp>
      <p:sp>
        <p:nvSpPr>
          <p:cNvPr id="23" name="Shape 21"/>
          <p:cNvSpPr/>
          <p:nvPr/>
        </p:nvSpPr>
        <p:spPr>
          <a:xfrm>
            <a:off x="3840480" y="749808"/>
            <a:ext cx="4846320" cy="2633472"/>
          </a:xfrm>
          <a:prstGeom prst="roundRect">
            <a:avLst>
              <a:gd name="adj" fmla="val 2083"/>
            </a:avLst>
          </a:prstGeom>
          <a:solidFill>
            <a:srgbClr val="2EAD9C"/>
          </a:solidFill>
          <a:ln/>
          <a:effectLst>
            <a:outerShdw sx="100000" sy="100000" kx="0" ky="0" algn="bl" rotWithShape="0" blurRad="50800" dist="12700" dir="2700000">
              <a:srgbClr val="000000">
                <a:alpha val="8000"/>
              </a:srgbClr>
            </a:outerShdw>
          </a:effectLst>
        </p:spPr>
      </p:sp>
      <p:sp>
        <p:nvSpPr>
          <p:cNvPr id="24" name="Text 22"/>
          <p:cNvSpPr/>
          <p:nvPr/>
        </p:nvSpPr>
        <p:spPr>
          <a:xfrm>
            <a:off x="4069080" y="841248"/>
            <a:ext cx="4389120" cy="146304"/>
          </a:xfrm>
          <a:prstGeom prst="rect">
            <a:avLst/>
          </a:prstGeom>
          <a:noFill/>
          <a:ln/>
        </p:spPr>
        <p:txBody>
          <a:bodyPr wrap="square" lIns="0" tIns="0" rIns="0" bIns="0" rtlCol="0" anchor="ctr"/>
          <a:lstStyle/>
          <a:p>
            <a:pPr indent="0" marL="0">
              <a:buNone/>
            </a:pPr>
            <a:r>
              <a:rPr lang="en-US" sz="850" b="1" spc="300" kern="0" dirty="0">
                <a:solidFill>
                  <a:srgbClr val="B8DCD7"/>
                </a:solidFill>
                <a:latin typeface="Arial" pitchFamily="34" charset="0"/>
                <a:ea typeface="Arial" pitchFamily="34" charset="-122"/>
                <a:cs typeface="Arial" pitchFamily="34" charset="-120"/>
              </a:rPr>
              <a:t>SPOTIFY IMPACT</a:t>
            </a:r>
            <a:endParaRPr lang="en-US" sz="850" dirty="0"/>
          </a:p>
        </p:txBody>
      </p:sp>
      <p:sp>
        <p:nvSpPr>
          <p:cNvPr id="25" name="Text 23"/>
          <p:cNvSpPr/>
          <p:nvPr/>
        </p:nvSpPr>
        <p:spPr>
          <a:xfrm>
            <a:off x="4069080" y="1060704"/>
            <a:ext cx="2286000" cy="438912"/>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1M</a:t>
            </a:r>
            <a:endParaRPr lang="en-US" sz="4400" dirty="0"/>
          </a:p>
        </p:txBody>
      </p:sp>
      <p:sp>
        <p:nvSpPr>
          <p:cNvPr id="26" name="Text 24"/>
          <p:cNvSpPr/>
          <p:nvPr/>
        </p:nvSpPr>
        <p:spPr>
          <a:xfrm>
            <a:off x="6858000" y="1133856"/>
            <a:ext cx="1600200" cy="347472"/>
          </a:xfrm>
          <a:prstGeom prst="rect">
            <a:avLst/>
          </a:prstGeom>
          <a:noFill/>
          <a:ln/>
        </p:spPr>
        <p:txBody>
          <a:bodyPr wrap="square" lIns="0" tIns="0" rIns="0" bIns="0" rtlCol="0" anchor="ctr"/>
          <a:lstStyle/>
          <a:p>
            <a:pPr algn="r" indent="0" marL="0">
              <a:buNone/>
            </a:pPr>
            <a:r>
              <a:rPr lang="en-US" sz="2000" b="1" dirty="0">
                <a:solidFill>
                  <a:srgbClr val="1A1A2E"/>
                </a:solidFill>
                <a:latin typeface="Arial" pitchFamily="34" charset="0"/>
                <a:ea typeface="Arial" pitchFamily="34" charset="-122"/>
                <a:cs typeface="Arial" pitchFamily="34" charset="-120"/>
              </a:rPr>
              <a:t>+1,835%</a:t>
            </a:r>
            <a:endParaRPr lang="en-US" sz="2000" dirty="0"/>
          </a:p>
        </p:txBody>
      </p:sp>
      <p:sp>
        <p:nvSpPr>
          <p:cNvPr id="27" name="Text 25"/>
          <p:cNvSpPr/>
          <p:nvPr/>
        </p:nvSpPr>
        <p:spPr>
          <a:xfrm>
            <a:off x="4069080" y="1481328"/>
            <a:ext cx="4389120" cy="146304"/>
          </a:xfrm>
          <a:prstGeom prst="rect">
            <a:avLst/>
          </a:prstGeom>
          <a:noFill/>
          <a:ln/>
        </p:spPr>
        <p:txBody>
          <a:bodyPr wrap="square" lIns="0" tIns="0" rIns="0" bIns="0" rtlCol="0" anchor="ctr"/>
          <a:lstStyle/>
          <a:p>
            <a:pPr indent="0" marL="0">
              <a:buNone/>
            </a:pPr>
            <a:r>
              <a:rPr lang="en-US" sz="900" b="1" spc="100" kern="0" dirty="0">
                <a:solidFill>
                  <a:srgbClr val="FFFFFF"/>
                </a:solidFill>
                <a:latin typeface="Arial" pitchFamily="34" charset="0"/>
                <a:ea typeface="Arial" pitchFamily="34" charset="-122"/>
                <a:cs typeface="Arial" pitchFamily="34" charset="-120"/>
              </a:rPr>
              <a:t>MONTHLY ACTIVE LISTENERS</a:t>
            </a:r>
            <a:endParaRPr lang="en-US" sz="900" dirty="0"/>
          </a:p>
        </p:txBody>
      </p:sp>
      <p:sp>
        <p:nvSpPr>
          <p:cNvPr id="28" name="Text 26"/>
          <p:cNvSpPr/>
          <p:nvPr/>
        </p:nvSpPr>
        <p:spPr>
          <a:xfrm>
            <a:off x="4069080" y="1664208"/>
            <a:ext cx="2286000" cy="438912"/>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37M</a:t>
            </a:r>
            <a:endParaRPr lang="en-US" sz="4400" dirty="0"/>
          </a:p>
        </p:txBody>
      </p:sp>
      <p:sp>
        <p:nvSpPr>
          <p:cNvPr id="29" name="Text 27"/>
          <p:cNvSpPr/>
          <p:nvPr/>
        </p:nvSpPr>
        <p:spPr>
          <a:xfrm>
            <a:off x="6858000" y="1737360"/>
            <a:ext cx="1600200" cy="347472"/>
          </a:xfrm>
          <a:prstGeom prst="rect">
            <a:avLst/>
          </a:prstGeom>
          <a:noFill/>
          <a:ln/>
        </p:spPr>
        <p:txBody>
          <a:bodyPr wrap="square" lIns="0" tIns="0" rIns="0" bIns="0" rtlCol="0" anchor="ctr"/>
          <a:lstStyle/>
          <a:p>
            <a:pPr algn="r" indent="0" marL="0">
              <a:buNone/>
            </a:pPr>
            <a:r>
              <a:rPr lang="en-US" sz="2000" b="1" dirty="0">
                <a:solidFill>
                  <a:srgbClr val="1A1A2E"/>
                </a:solidFill>
                <a:latin typeface="Arial" pitchFamily="34" charset="0"/>
                <a:ea typeface="Arial" pitchFamily="34" charset="-122"/>
                <a:cs typeface="Arial" pitchFamily="34" charset="-120"/>
              </a:rPr>
              <a:t>+1,333%</a:t>
            </a:r>
            <a:endParaRPr lang="en-US" sz="2000" dirty="0"/>
          </a:p>
        </p:txBody>
      </p:sp>
      <p:sp>
        <p:nvSpPr>
          <p:cNvPr id="30" name="Text 28"/>
          <p:cNvSpPr/>
          <p:nvPr/>
        </p:nvSpPr>
        <p:spPr>
          <a:xfrm>
            <a:off x="4069080" y="2084832"/>
            <a:ext cx="4389120" cy="146304"/>
          </a:xfrm>
          <a:prstGeom prst="rect">
            <a:avLst/>
          </a:prstGeom>
          <a:noFill/>
          <a:ln/>
        </p:spPr>
        <p:txBody>
          <a:bodyPr wrap="square" lIns="0" tIns="0" rIns="0" bIns="0" rtlCol="0" anchor="ctr"/>
          <a:lstStyle/>
          <a:p>
            <a:pPr indent="0" marL="0">
              <a:buNone/>
            </a:pPr>
            <a:r>
              <a:rPr lang="en-US" sz="900" b="1" spc="100" kern="0" dirty="0">
                <a:solidFill>
                  <a:srgbClr val="FFFFFF"/>
                </a:solidFill>
                <a:latin typeface="Arial" pitchFamily="34" charset="0"/>
                <a:ea typeface="Arial" pitchFamily="34" charset="-122"/>
                <a:cs typeface="Arial" pitchFamily="34" charset="-120"/>
              </a:rPr>
              <a:t>SPOTIFY STREAMS</a:t>
            </a:r>
            <a:endParaRPr lang="en-US" sz="900" dirty="0"/>
          </a:p>
        </p:txBody>
      </p:sp>
      <p:sp>
        <p:nvSpPr>
          <p:cNvPr id="31" name="Text 29"/>
          <p:cNvSpPr/>
          <p:nvPr/>
        </p:nvSpPr>
        <p:spPr>
          <a:xfrm>
            <a:off x="4069080" y="2267712"/>
            <a:ext cx="2286000" cy="438912"/>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1.6M</a:t>
            </a:r>
            <a:endParaRPr lang="en-US" sz="4400" dirty="0"/>
          </a:p>
        </p:txBody>
      </p:sp>
      <p:sp>
        <p:nvSpPr>
          <p:cNvPr id="32" name="Text 30"/>
          <p:cNvSpPr/>
          <p:nvPr/>
        </p:nvSpPr>
        <p:spPr>
          <a:xfrm>
            <a:off x="6858000" y="2340864"/>
            <a:ext cx="1600200" cy="347472"/>
          </a:xfrm>
          <a:prstGeom prst="rect">
            <a:avLst/>
          </a:prstGeom>
          <a:noFill/>
          <a:ln/>
        </p:spPr>
        <p:txBody>
          <a:bodyPr wrap="square" lIns="0" tIns="0" rIns="0" bIns="0" rtlCol="0" anchor="ctr"/>
          <a:lstStyle/>
          <a:p>
            <a:pPr algn="r" indent="0" marL="0">
              <a:buNone/>
            </a:pPr>
            <a:r>
              <a:rPr lang="en-US" sz="2000" b="1" dirty="0">
                <a:solidFill>
                  <a:srgbClr val="1A1A2E"/>
                </a:solidFill>
                <a:latin typeface="Arial" pitchFamily="34" charset="0"/>
                <a:ea typeface="Arial" pitchFamily="34" charset="-122"/>
                <a:cs typeface="Arial" pitchFamily="34" charset="-120"/>
              </a:rPr>
              <a:t>+3,027%</a:t>
            </a:r>
            <a:endParaRPr lang="en-US" sz="2000" dirty="0"/>
          </a:p>
        </p:txBody>
      </p:sp>
      <p:sp>
        <p:nvSpPr>
          <p:cNvPr id="33" name="Text 31"/>
          <p:cNvSpPr/>
          <p:nvPr/>
        </p:nvSpPr>
        <p:spPr>
          <a:xfrm>
            <a:off x="4069080" y="2688336"/>
            <a:ext cx="4389120" cy="146304"/>
          </a:xfrm>
          <a:prstGeom prst="rect">
            <a:avLst/>
          </a:prstGeom>
          <a:noFill/>
          <a:ln/>
        </p:spPr>
        <p:txBody>
          <a:bodyPr wrap="square" lIns="0" tIns="0" rIns="0" bIns="0" rtlCol="0" anchor="ctr"/>
          <a:lstStyle/>
          <a:p>
            <a:pPr indent="0" marL="0">
              <a:buNone/>
            </a:pPr>
            <a:r>
              <a:rPr lang="en-US" sz="900" b="1" spc="100" kern="0" dirty="0">
                <a:solidFill>
                  <a:srgbClr val="FFFFFF"/>
                </a:solidFill>
                <a:latin typeface="Arial" pitchFamily="34" charset="0"/>
                <a:ea typeface="Arial" pitchFamily="34" charset="-122"/>
                <a:cs typeface="Arial" pitchFamily="34" charset="-120"/>
              </a:rPr>
              <a:t>SAVES</a:t>
            </a:r>
            <a:endParaRPr lang="en-US" sz="900" dirty="0"/>
          </a:p>
        </p:txBody>
      </p:sp>
      <p:sp>
        <p:nvSpPr>
          <p:cNvPr id="34" name="Text 32"/>
          <p:cNvSpPr/>
          <p:nvPr/>
        </p:nvSpPr>
        <p:spPr>
          <a:xfrm>
            <a:off x="4069080" y="2926080"/>
            <a:ext cx="1463040" cy="20116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4.4M</a:t>
            </a:r>
            <a:pPr indent="0" marL="0">
              <a:buNone/>
            </a:pPr>
            <a:r>
              <a:rPr lang="en-US" sz="850" dirty="0">
                <a:solidFill>
                  <a:srgbClr val="FFFFFF"/>
                </a:solidFill>
                <a:latin typeface="Arial" pitchFamily="34" charset="0"/>
                <a:ea typeface="Arial" pitchFamily="34" charset="-122"/>
                <a:cs typeface="Arial" pitchFamily="34" charset="-120"/>
              </a:rPr>
              <a:t> Listeners </a:t>
            </a:r>
            <a:pPr indent="0" marL="0">
              <a:buNone/>
            </a:pPr>
            <a:r>
              <a:rPr lang="en-US" sz="850" b="1" dirty="0">
                <a:solidFill>
                  <a:srgbClr val="1A1A2E"/>
                </a:solidFill>
                <a:latin typeface="Arial" pitchFamily="34" charset="0"/>
                <a:ea typeface="Arial" pitchFamily="34" charset="-122"/>
                <a:cs typeface="Arial" pitchFamily="34" charset="-120"/>
              </a:rPr>
              <a:t>+761%</a:t>
            </a:r>
            <a:endParaRPr lang="en-US" sz="1200" dirty="0"/>
          </a:p>
        </p:txBody>
      </p:sp>
      <p:sp>
        <p:nvSpPr>
          <p:cNvPr id="35" name="Text 33"/>
          <p:cNvSpPr/>
          <p:nvPr/>
        </p:nvSpPr>
        <p:spPr>
          <a:xfrm>
            <a:off x="5532120" y="2926080"/>
            <a:ext cx="1463040" cy="20116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1M</a:t>
            </a:r>
            <a:pPr indent="0" marL="0">
              <a:buNone/>
            </a:pPr>
            <a:r>
              <a:rPr lang="en-US" sz="850" dirty="0">
                <a:solidFill>
                  <a:srgbClr val="FFFFFF"/>
                </a:solidFill>
                <a:latin typeface="Arial" pitchFamily="34" charset="0"/>
                <a:ea typeface="Arial" pitchFamily="34" charset="-122"/>
                <a:cs typeface="Arial" pitchFamily="34" charset="-120"/>
              </a:rPr>
              <a:t> PL Adds </a:t>
            </a:r>
            <a:pPr indent="0" marL="0">
              <a:buNone/>
            </a:pPr>
            <a:r>
              <a:rPr lang="en-US" sz="850" b="1" dirty="0">
                <a:solidFill>
                  <a:srgbClr val="1A1A2E"/>
                </a:solidFill>
                <a:latin typeface="Arial" pitchFamily="34" charset="0"/>
                <a:ea typeface="Arial" pitchFamily="34" charset="-122"/>
                <a:cs typeface="Arial" pitchFamily="34" charset="-120"/>
              </a:rPr>
              <a:t>+1,127%</a:t>
            </a:r>
            <a:endParaRPr lang="en-US" sz="1200" dirty="0"/>
          </a:p>
        </p:txBody>
      </p:sp>
      <p:sp>
        <p:nvSpPr>
          <p:cNvPr id="36" name="Text 34"/>
          <p:cNvSpPr/>
          <p:nvPr/>
        </p:nvSpPr>
        <p:spPr>
          <a:xfrm>
            <a:off x="6995160" y="2926080"/>
            <a:ext cx="1463040" cy="20116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43K</a:t>
            </a:r>
            <a:pPr indent="0" marL="0">
              <a:buNone/>
            </a:pPr>
            <a:r>
              <a:rPr lang="en-US" sz="850" dirty="0">
                <a:solidFill>
                  <a:srgbClr val="FFFFFF"/>
                </a:solidFill>
                <a:latin typeface="Arial" pitchFamily="34" charset="0"/>
                <a:ea typeface="Arial" pitchFamily="34" charset="-122"/>
                <a:cs typeface="Arial" pitchFamily="34" charset="-120"/>
              </a:rPr>
              <a:t> Followers </a:t>
            </a:r>
            <a:pPr indent="0" marL="0">
              <a:buNone/>
            </a:pPr>
            <a:r>
              <a:rPr lang="en-US" sz="850" b="1" dirty="0">
                <a:solidFill>
                  <a:srgbClr val="1A1A2E"/>
                </a:solidFill>
                <a:latin typeface="Arial" pitchFamily="34" charset="0"/>
                <a:ea typeface="Arial" pitchFamily="34" charset="-122"/>
                <a:cs typeface="Arial" pitchFamily="34" charset="-120"/>
              </a:rPr>
              <a:t>+316%</a:t>
            </a:r>
            <a:endParaRPr lang="en-US" sz="1200" dirty="0"/>
          </a:p>
        </p:txBody>
      </p:sp>
      <p:sp>
        <p:nvSpPr>
          <p:cNvPr id="37" name="Shape 35"/>
          <p:cNvSpPr/>
          <p:nvPr/>
        </p:nvSpPr>
        <p:spPr>
          <a:xfrm>
            <a:off x="457200" y="3511296"/>
            <a:ext cx="8229600" cy="768096"/>
          </a:xfrm>
          <a:prstGeom prst="roundRect">
            <a:avLst>
              <a:gd name="adj" fmla="val 7143"/>
            </a:avLst>
          </a:prstGeom>
          <a:solidFill>
            <a:srgbClr val="E8F6F3"/>
          </a:solidFill>
          <a:ln/>
        </p:spPr>
      </p:sp>
      <p:sp>
        <p:nvSpPr>
          <p:cNvPr id="38" name="Text 36"/>
          <p:cNvSpPr/>
          <p:nvPr/>
        </p:nvSpPr>
        <p:spPr>
          <a:xfrm>
            <a:off x="640080" y="3575304"/>
            <a:ext cx="7863840" cy="128016"/>
          </a:xfrm>
          <a:prstGeom prst="rect">
            <a:avLst/>
          </a:prstGeom>
          <a:noFill/>
          <a:ln/>
        </p:spPr>
        <p:txBody>
          <a:bodyPr wrap="square" lIns="0" tIns="0" rIns="0" bIns="0" rtlCol="0" anchor="ctr"/>
          <a:lstStyle/>
          <a:p>
            <a:pPr indent="0" marL="0">
              <a:buNone/>
            </a:pPr>
            <a:r>
              <a:rPr lang="en-US" sz="850" b="1" spc="300" kern="0" dirty="0">
                <a:solidFill>
                  <a:srgbClr val="1A8A7D"/>
                </a:solidFill>
                <a:latin typeface="Arial" pitchFamily="34" charset="0"/>
                <a:ea typeface="Arial" pitchFamily="34" charset="-122"/>
                <a:cs typeface="Arial" pitchFamily="34" charset="-120"/>
              </a:rPr>
              <a:t>STRATEGIC TAKEAWAY</a:t>
            </a:r>
            <a:endParaRPr lang="en-US" sz="850" dirty="0"/>
          </a:p>
        </p:txBody>
      </p:sp>
      <p:sp>
        <p:nvSpPr>
          <p:cNvPr id="39" name="Text 37"/>
          <p:cNvSpPr/>
          <p:nvPr/>
        </p:nvSpPr>
        <p:spPr>
          <a:xfrm>
            <a:off x="640080" y="3739896"/>
            <a:ext cx="7863840" cy="475488"/>
          </a:xfrm>
          <a:prstGeom prst="rect">
            <a:avLst/>
          </a:prstGeom>
          <a:noFill/>
          <a:ln/>
        </p:spPr>
        <p:txBody>
          <a:bodyPr wrap="square" lIns="0" tIns="0" rIns="0" bIns="0" rtlCol="0" anchor="ctr"/>
          <a:lstStyle/>
          <a:p>
            <a:pPr indent="0" marL="0">
              <a:buNone/>
            </a:pPr>
            <a:r>
              <a:rPr lang="en-US" sz="1000" dirty="0">
                <a:solidFill>
                  <a:srgbClr val="1A1A2E"/>
                </a:solidFill>
                <a:latin typeface="Arial" pitchFamily="34" charset="0"/>
                <a:ea typeface="Arial" pitchFamily="34" charset="-122"/>
                <a:cs typeface="Arial" pitchFamily="34" charset="-120"/>
              </a:rPr>
              <a:t>Following the April 24 YouTube premiere, Spotify consumption accelerated almost immediately, with streams, saves and playlist adds all showing sharp increases. While YouTube cannot be isolated as the sole cause, the timing provides a compelling example of how exceptional, video-first creative can generate attention that travels across platforms.</a:t>
            </a:r>
            <a:endParaRPr lang="en-US" sz="1000" dirty="0"/>
          </a:p>
        </p:txBody>
      </p:sp>
      <p:sp>
        <p:nvSpPr>
          <p:cNvPr id="40" name="Shape 38"/>
          <p:cNvSpPr/>
          <p:nvPr/>
        </p:nvSpPr>
        <p:spPr>
          <a:xfrm>
            <a:off x="457200" y="4389120"/>
            <a:ext cx="1554480" cy="246888"/>
          </a:xfrm>
          <a:prstGeom prst="roundRect">
            <a:avLst>
              <a:gd name="adj" fmla="val 50000"/>
            </a:avLst>
          </a:prstGeom>
          <a:solidFill>
            <a:srgbClr val="1A1A2E"/>
          </a:solidFill>
          <a:ln/>
        </p:spPr>
      </p:sp>
      <p:sp>
        <p:nvSpPr>
          <p:cNvPr id="41" name="Text 39"/>
          <p:cNvSpPr/>
          <p:nvPr/>
        </p:nvSpPr>
        <p:spPr>
          <a:xfrm>
            <a:off x="457200" y="4389120"/>
            <a:ext cx="1554480" cy="24688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Extreme Case Study</a:t>
            </a:r>
            <a:endParaRPr lang="en-US" sz="900" dirty="0"/>
          </a:p>
        </p:txBody>
      </p:sp>
      <p:sp>
        <p:nvSpPr>
          <p:cNvPr id="42" name="Shape 40"/>
          <p:cNvSpPr/>
          <p:nvPr/>
        </p:nvSpPr>
        <p:spPr>
          <a:xfrm>
            <a:off x="2148840" y="4389120"/>
            <a:ext cx="1051560" cy="246888"/>
          </a:xfrm>
          <a:prstGeom prst="roundRect">
            <a:avLst>
              <a:gd name="adj" fmla="val 50000"/>
            </a:avLst>
          </a:prstGeom>
          <a:solidFill>
            <a:srgbClr val="1A1A2E"/>
          </a:solidFill>
          <a:ln/>
        </p:spPr>
      </p:sp>
      <p:sp>
        <p:nvSpPr>
          <p:cNvPr id="43" name="Text 41"/>
          <p:cNvSpPr/>
          <p:nvPr/>
        </p:nvSpPr>
        <p:spPr>
          <a:xfrm>
            <a:off x="2148840" y="4389120"/>
            <a:ext cx="1051560" cy="24688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Growing</a:t>
            </a:r>
            <a:endParaRPr lang="en-US" sz="900" dirty="0"/>
          </a:p>
        </p:txBody>
      </p:sp>
      <p:sp>
        <p:nvSpPr>
          <p:cNvPr id="44" name="Shape 42"/>
          <p:cNvSpPr/>
          <p:nvPr/>
        </p:nvSpPr>
        <p:spPr>
          <a:xfrm>
            <a:off x="3337560" y="4389120"/>
            <a:ext cx="1417320" cy="246888"/>
          </a:xfrm>
          <a:prstGeom prst="roundRect">
            <a:avLst>
              <a:gd name="adj" fmla="val 50000"/>
            </a:avLst>
          </a:prstGeom>
          <a:solidFill>
            <a:srgbClr val="1A1A2E"/>
          </a:solidFill>
          <a:ln/>
        </p:spPr>
      </p:sp>
      <p:sp>
        <p:nvSpPr>
          <p:cNvPr id="45" name="Text 43"/>
          <p:cNvSpPr/>
          <p:nvPr/>
        </p:nvSpPr>
        <p:spPr>
          <a:xfrm>
            <a:off x="3337560" y="4389120"/>
            <a:ext cx="1417320" cy="24688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K-Trap</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do collaborations sustain campaign momentum?</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Most campaigns concentrate views in a single hero upload. Campaigns with collaboration features tend to create multiple competing assets rather than a single dominant video, spreading views across the catalogue.</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K-Trap: 30 assets, 5 of 6 monitored formats (missing Live Session). Hero dependency is 15.2% — well below the dataset median. Views are distributed across the campaign rather than concentrated in one video.</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Collaboration releases create natural content multipliers: each feature can generate its own OMV, visualiser, and supplementary content. The result is sustained momentum rather than a single spike.</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5/6 Multi-Format</a:t>
            </a:r>
            <a:endParaRPr lang="en-US" sz="900" dirty="0"/>
          </a:p>
        </p:txBody>
      </p:sp>
      <p:sp>
        <p:nvSpPr>
          <p:cNvPr id="12" name="Shape 10"/>
          <p:cNvSpPr/>
          <p:nvPr/>
        </p:nvSpPr>
        <p:spPr>
          <a:xfrm>
            <a:off x="2185416" y="4297680"/>
            <a:ext cx="2249424" cy="292608"/>
          </a:xfrm>
          <a:prstGeom prst="roundRect">
            <a:avLst>
              <a:gd name="adj" fmla="val 50000"/>
            </a:avLst>
          </a:prstGeom>
          <a:solidFill>
            <a:srgbClr val="1A1A2E"/>
          </a:solidFill>
          <a:ln/>
        </p:spPr>
      </p:sp>
      <p:sp>
        <p:nvSpPr>
          <p:cNvPr id="13" name="Text 11"/>
          <p:cNvSpPr/>
          <p:nvPr/>
        </p:nvSpPr>
        <p:spPr>
          <a:xfrm>
            <a:off x="2185416" y="4297680"/>
            <a:ext cx="2249424"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Top 17% Format Diversity</a:t>
            </a:r>
            <a:endParaRPr lang="en-US" sz="900" dirty="0"/>
          </a:p>
        </p:txBody>
      </p:sp>
      <p:sp>
        <p:nvSpPr>
          <p:cNvPr id="14" name="Shape 12"/>
          <p:cNvSpPr/>
          <p:nvPr/>
        </p:nvSpPr>
        <p:spPr>
          <a:xfrm>
            <a:off x="4572000" y="4297680"/>
            <a:ext cx="1837944" cy="292608"/>
          </a:xfrm>
          <a:prstGeom prst="roundRect">
            <a:avLst>
              <a:gd name="adj" fmla="val 50000"/>
            </a:avLst>
          </a:prstGeom>
          <a:solidFill>
            <a:srgbClr val="1A1A2E"/>
          </a:solidFill>
          <a:ln/>
        </p:spPr>
      </p:sp>
      <p:sp>
        <p:nvSpPr>
          <p:cNvPr id="15" name="Text 13"/>
          <p:cNvSpPr/>
          <p:nvPr/>
        </p:nvSpPr>
        <p:spPr>
          <a:xfrm>
            <a:off x="4572000" y="4297680"/>
            <a:ext cx="1837944"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Low Hero Dependency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Angus &amp; Julia Stone</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can acoustic content extend a campaign?</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Only 22 of 138 monitored channels (15.9%) currently publish acoustic content. Virgin leads this format 3.1x vs the wider market (22.0% vs 7.1%). Acoustic is the single largest competitive advantage in the dataset.</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Angus &amp; Julia Stone: 24 assets across 4 of 6 monitored formats (OMV, Shorts, Live Session, Lyric Video) plus 3 acoustic sessions. One of only 22 channels (15.9%) using acoustic — Virgin's strongest format advantage.</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Acoustic sessions extend a release cycle well beyond the OMV window. They serve as discovery entry points for new audiences and demonstrate artist versatility with relatively low production overhead.</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Acoustic Pioneer</a:t>
            </a:r>
            <a:endParaRPr lang="en-US" sz="900" dirty="0"/>
          </a:p>
        </p:txBody>
      </p:sp>
      <p:sp>
        <p:nvSpPr>
          <p:cNvPr id="12" name="Shape 10"/>
          <p:cNvSpPr/>
          <p:nvPr/>
        </p:nvSpPr>
        <p:spPr>
          <a:xfrm>
            <a:off x="2185416" y="4297680"/>
            <a:ext cx="1463040" cy="292608"/>
          </a:xfrm>
          <a:prstGeom prst="roundRect">
            <a:avLst>
              <a:gd name="adj" fmla="val 50000"/>
            </a:avLst>
          </a:prstGeom>
          <a:solidFill>
            <a:srgbClr val="1A1A2E"/>
          </a:solidFill>
          <a:ln/>
        </p:spPr>
      </p:sp>
      <p:sp>
        <p:nvSpPr>
          <p:cNvPr id="13" name="Text 11"/>
          <p:cNvSpPr/>
          <p:nvPr/>
        </p:nvSpPr>
        <p:spPr>
          <a:xfrm>
            <a:off x="2185416" y="4297680"/>
            <a:ext cx="1463040"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Growing</a:t>
            </a:r>
            <a:endParaRPr lang="en-US" sz="900" dirty="0"/>
          </a:p>
        </p:txBody>
      </p:sp>
      <p:sp>
        <p:nvSpPr>
          <p:cNvPr id="14" name="Shape 12"/>
          <p:cNvSpPr/>
          <p:nvPr/>
        </p:nvSpPr>
        <p:spPr>
          <a:xfrm>
            <a:off x="3785616" y="4297680"/>
            <a:ext cx="1591056" cy="292608"/>
          </a:xfrm>
          <a:prstGeom prst="roundRect">
            <a:avLst>
              <a:gd name="adj" fmla="val 50000"/>
            </a:avLst>
          </a:prstGeom>
          <a:solidFill>
            <a:srgbClr val="1A1A2E"/>
          </a:solidFill>
          <a:ln/>
        </p:spPr>
      </p:sp>
      <p:sp>
        <p:nvSpPr>
          <p:cNvPr id="15" name="Text 13"/>
          <p:cNvSpPr/>
          <p:nvPr/>
        </p:nvSpPr>
        <p:spPr>
          <a:xfrm>
            <a:off x="3785616"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Ezra Collective</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can live sessions become the campaign?</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54% of monitored channels use live sessions. But few build their campaign identity around live performance. For performance-led acts, live content can serve as the primary format rather than a supplement.</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Ezra Collective runs 24 assets across 4 of 6 monitored formats (OMV, Live Session, Visualiser, Shorts) with 7 live sessions as the campaign anchor. Live performance is the campaign identity, not an afterthought.</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Live sessions work best when they are the campaign, not a supplement. The combination of OMV, live performance, visualiser, and Shorts creates a content ecosystem that reflects the artist's core identity.</a:t>
            </a:r>
            <a:endParaRPr lang="en-US" sz="900" dirty="0"/>
          </a:p>
        </p:txBody>
      </p:sp>
      <p:sp>
        <p:nvSpPr>
          <p:cNvPr id="10" name="Shape 8"/>
          <p:cNvSpPr/>
          <p:nvPr/>
        </p:nvSpPr>
        <p:spPr>
          <a:xfrm>
            <a:off x="457200" y="4297680"/>
            <a:ext cx="1508760" cy="292608"/>
          </a:xfrm>
          <a:prstGeom prst="roundRect">
            <a:avLst>
              <a:gd name="adj" fmla="val 50000"/>
            </a:avLst>
          </a:prstGeom>
          <a:solidFill>
            <a:srgbClr val="1A1A2E"/>
          </a:solidFill>
          <a:ln/>
        </p:spPr>
      </p:sp>
      <p:sp>
        <p:nvSpPr>
          <p:cNvPr id="11" name="Text 9"/>
          <p:cNvSpPr/>
          <p:nvPr/>
        </p:nvSpPr>
        <p:spPr>
          <a:xfrm>
            <a:off x="457200" y="4297680"/>
            <a:ext cx="1508760"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7 Live Sessions</a:t>
            </a:r>
            <a:endParaRPr lang="en-US" sz="900" dirty="0"/>
          </a:p>
        </p:txBody>
      </p:sp>
      <p:sp>
        <p:nvSpPr>
          <p:cNvPr id="12" name="Shape 10"/>
          <p:cNvSpPr/>
          <p:nvPr/>
        </p:nvSpPr>
        <p:spPr>
          <a:xfrm>
            <a:off x="2103120" y="4297680"/>
            <a:ext cx="1463040" cy="292608"/>
          </a:xfrm>
          <a:prstGeom prst="roundRect">
            <a:avLst>
              <a:gd name="adj" fmla="val 50000"/>
            </a:avLst>
          </a:prstGeom>
          <a:solidFill>
            <a:srgbClr val="1A1A2E"/>
          </a:solidFill>
          <a:ln/>
        </p:spPr>
      </p:sp>
      <p:sp>
        <p:nvSpPr>
          <p:cNvPr id="13" name="Text 11"/>
          <p:cNvSpPr/>
          <p:nvPr/>
        </p:nvSpPr>
        <p:spPr>
          <a:xfrm>
            <a:off x="2103120" y="4297680"/>
            <a:ext cx="1463040"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Growing</a:t>
            </a:r>
            <a:endParaRPr lang="en-US" sz="900" dirty="0"/>
          </a:p>
        </p:txBody>
      </p:sp>
      <p:sp>
        <p:nvSpPr>
          <p:cNvPr id="14" name="Shape 12"/>
          <p:cNvSpPr/>
          <p:nvPr/>
        </p:nvSpPr>
        <p:spPr>
          <a:xfrm>
            <a:off x="3703320" y="4297680"/>
            <a:ext cx="1591056" cy="292608"/>
          </a:xfrm>
          <a:prstGeom prst="roundRect">
            <a:avLst>
              <a:gd name="adj" fmla="val 50000"/>
            </a:avLst>
          </a:prstGeom>
          <a:solidFill>
            <a:srgbClr val="1A1A2E"/>
          </a:solidFill>
          <a:ln/>
        </p:spPr>
      </p:sp>
      <p:sp>
        <p:nvSpPr>
          <p:cNvPr id="15" name="Text 13"/>
          <p:cNvSpPr/>
          <p:nvPr/>
        </p:nvSpPr>
        <p:spPr>
          <a:xfrm>
            <a:off x="370332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Mary in the Junkyard</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Can developing artists run rich multi-format campaigns?</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Only 22 of 138 monitored channels deploy 5 or more of the 6 monitored formats. Multi-format execution is typically associated with larger, better-resourced channels. Developing artists rarely achieve this level of format diversity.</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Mary in the Junkyard deploys 5 of 6 monitored formats across 21 assets at developing scale: OMV, Live Session, Visualiser, BTS, and Shorts. Top 17% for format diversity. Multi-format is achievable at any stage.</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Format variety requires planning, not budget. 5 monitored formats across 21 assets at developing scale. Build multi-format coverage into campaign planning from day one.</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5/6 Multi-Format</a:t>
            </a:r>
            <a:endParaRPr lang="en-US" sz="900" dirty="0"/>
          </a:p>
        </p:txBody>
      </p:sp>
      <p:sp>
        <p:nvSpPr>
          <p:cNvPr id="12" name="Shape 10"/>
          <p:cNvSpPr/>
          <p:nvPr/>
        </p:nvSpPr>
        <p:spPr>
          <a:xfrm>
            <a:off x="2185416" y="4297680"/>
            <a:ext cx="1673352" cy="292608"/>
          </a:xfrm>
          <a:prstGeom prst="roundRect">
            <a:avLst>
              <a:gd name="adj" fmla="val 50000"/>
            </a:avLst>
          </a:prstGeom>
          <a:solidFill>
            <a:srgbClr val="1A1A2E"/>
          </a:solidFill>
          <a:ln/>
        </p:spPr>
      </p:sp>
      <p:sp>
        <p:nvSpPr>
          <p:cNvPr id="13" name="Text 11"/>
          <p:cNvSpPr/>
          <p:nvPr/>
        </p:nvSpPr>
        <p:spPr>
          <a:xfrm>
            <a:off x="2185416" y="4297680"/>
            <a:ext cx="1673352"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Top 17% Diversity</a:t>
            </a:r>
            <a:endParaRPr lang="en-US" sz="900" dirty="0"/>
          </a:p>
        </p:txBody>
      </p:sp>
      <p:sp>
        <p:nvSpPr>
          <p:cNvPr id="14" name="Shape 12"/>
          <p:cNvSpPr/>
          <p:nvPr/>
        </p:nvSpPr>
        <p:spPr>
          <a:xfrm>
            <a:off x="3995928" y="4297680"/>
            <a:ext cx="1463040" cy="292608"/>
          </a:xfrm>
          <a:prstGeom prst="roundRect">
            <a:avLst>
              <a:gd name="adj" fmla="val 50000"/>
            </a:avLst>
          </a:prstGeom>
          <a:solidFill>
            <a:srgbClr val="1A1A2E"/>
          </a:solidFill>
          <a:ln/>
        </p:spPr>
      </p:sp>
      <p:sp>
        <p:nvSpPr>
          <p:cNvPr id="15" name="Text 13"/>
          <p:cNvSpPr/>
          <p:nvPr/>
        </p:nvSpPr>
        <p:spPr>
          <a:xfrm>
            <a:off x="3995928" y="4297680"/>
            <a:ext cx="1463040"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Growing</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82880"/>
            <a:ext cx="8046720" cy="457200"/>
          </a:xfrm>
          <a:prstGeom prst="rect">
            <a:avLst/>
          </a:prstGeom>
          <a:noFill/>
          <a:ln/>
        </p:spPr>
        <p:txBody>
          <a:bodyPr wrap="square" lIns="0" tIns="0" rIns="0" bIns="0" rtlCol="0" anchor="ctr"/>
          <a:lstStyle/>
          <a:p>
            <a:pPr algn="l" indent="0" marL="0">
              <a:buNone/>
            </a:pPr>
            <a:r>
              <a:rPr lang="en-US" sz="2600" b="1" dirty="0">
                <a:solidFill>
                  <a:srgbClr val="1A8A7D"/>
                </a:solidFill>
                <a:latin typeface="Arial" pitchFamily="34" charset="0"/>
                <a:ea typeface="Arial" pitchFamily="34" charset="-122"/>
                <a:cs typeface="Arial" pitchFamily="34" charset="-120"/>
              </a:rPr>
              <a:t>Lip Critic</a:t>
            </a:r>
            <a:endParaRPr lang="en-US" sz="2600" dirty="0"/>
          </a:p>
        </p:txBody>
      </p:sp>
      <p:sp>
        <p:nvSpPr>
          <p:cNvPr id="3" name="Text 1"/>
          <p:cNvSpPr/>
          <p:nvPr/>
        </p:nvSpPr>
        <p:spPr>
          <a:xfrm>
            <a:off x="548640" y="594360"/>
            <a:ext cx="8046720" cy="274320"/>
          </a:xfrm>
          <a:prstGeom prst="rect">
            <a:avLst/>
          </a:prstGeom>
          <a:noFill/>
          <a:ln/>
        </p:spPr>
        <p:txBody>
          <a:bodyPr wrap="square" lIns="0" tIns="0" rIns="0" bIns="0" rtlCol="0" anchor="ctr"/>
          <a:lstStyle/>
          <a:p>
            <a:pPr algn="l" indent="0" marL="0">
              <a:buNone/>
            </a:pPr>
            <a:r>
              <a:rPr lang="en-US" sz="1200" i="1" dirty="0">
                <a:solidFill>
                  <a:srgbClr val="7F8C8D"/>
                </a:solidFill>
                <a:latin typeface="Arial" pitchFamily="34" charset="0"/>
                <a:ea typeface="Arial" pitchFamily="34" charset="-122"/>
                <a:cs typeface="Arial" pitchFamily="34" charset="-120"/>
              </a:rPr>
              <a:t>How can smaller artists maintain constant campaign activity?</a:t>
            </a:r>
            <a:endParaRPr lang="en-US" sz="1200" dirty="0"/>
          </a:p>
        </p:txBody>
      </p:sp>
      <p:sp>
        <p:nvSpPr>
          <p:cNvPr id="4" name="Shape 2"/>
          <p:cNvSpPr/>
          <p:nvPr/>
        </p:nvSpPr>
        <p:spPr>
          <a:xfrm>
            <a:off x="457200" y="1005840"/>
            <a:ext cx="8229600" cy="960120"/>
          </a:xfrm>
          <a:prstGeom prst="roundRect">
            <a:avLst>
              <a:gd name="adj" fmla="val 5714"/>
            </a:avLst>
          </a:prstGeom>
          <a:solidFill>
            <a:srgbClr val="F7F8FA"/>
          </a:solidFill>
          <a:ln/>
        </p:spPr>
      </p:sp>
      <p:sp>
        <p:nvSpPr>
          <p:cNvPr id="5" name="Text 3"/>
          <p:cNvSpPr/>
          <p:nvPr/>
        </p:nvSpPr>
        <p:spPr>
          <a:xfrm>
            <a:off x="640080" y="1051560"/>
            <a:ext cx="7863840" cy="868680"/>
          </a:xfrm>
          <a:prstGeom prst="rect">
            <a:avLst/>
          </a:prstGeom>
          <a:noFill/>
          <a:ln/>
        </p:spPr>
        <p:txBody>
          <a:bodyPr wrap="square" lIns="0" tIns="0" rIns="0" bIns="0" rtlCol="0" anchor="t"/>
          <a:lstStyle/>
          <a:p>
            <a:pPr algn="l" indent="0" marL="0">
              <a:buNone/>
            </a:pPr>
            <a:r>
              <a:rPr lang="en-US" sz="900" b="1" spc="300" kern="0" dirty="0">
                <a:solidFill>
                  <a:srgbClr val="7F8C8D"/>
                </a:solidFill>
              </a:rPr>
              <a:t>MARKET SIGNAL</a:t>
            </a:r>
            <a:endParaRPr lang="en-US" sz="900" dirty="0"/>
          </a:p>
          <a:p>
            <a:pPr algn="l" indent="0" marL="0">
              <a:buNone/>
            </a:pPr>
            <a:endParaRPr lang="en-US" sz="900" dirty="0"/>
          </a:p>
          <a:p>
            <a:pPr algn="l" indent="0" marL="0">
              <a:buNone/>
            </a:pPr>
            <a:r>
              <a:rPr lang="en-US" sz="1300" dirty="0">
                <a:solidFill>
                  <a:srgbClr val="1A1A2E"/>
                </a:solidFill>
              </a:rPr>
              <a:t>Developing channels face a discovery problem: limited catalogue, limited audience, limited visibility. Consistent creative output across multiple content types provides more entry points for audience discovery.</a:t>
            </a:r>
            <a:endParaRPr lang="en-US" sz="900" dirty="0"/>
          </a:p>
        </p:txBody>
      </p:sp>
      <p:sp>
        <p:nvSpPr>
          <p:cNvPr id="6" name="Shape 4"/>
          <p:cNvSpPr/>
          <p:nvPr/>
        </p:nvSpPr>
        <p:spPr>
          <a:xfrm>
            <a:off x="457200" y="2148840"/>
            <a:ext cx="8229600" cy="960120"/>
          </a:xfrm>
          <a:prstGeom prst="roundRect">
            <a:avLst>
              <a:gd name="adj" fmla="val 5714"/>
            </a:avLst>
          </a:prstGeom>
          <a:solidFill>
            <a:srgbClr val="2EAD9C"/>
          </a:solidFill>
          <a:ln/>
          <a:effectLst>
            <a:outerShdw sx="100000" sy="100000" kx="0" ky="0" algn="bl" rotWithShape="0" blurRad="50800" dist="12700" dir="2700000">
              <a:srgbClr val="000000">
                <a:alpha val="8000"/>
              </a:srgbClr>
            </a:outerShdw>
          </a:effectLst>
        </p:spPr>
      </p:sp>
      <p:sp>
        <p:nvSpPr>
          <p:cNvPr id="7" name="Text 5"/>
          <p:cNvSpPr/>
          <p:nvPr/>
        </p:nvSpPr>
        <p:spPr>
          <a:xfrm>
            <a:off x="640080" y="2194560"/>
            <a:ext cx="7863840" cy="868680"/>
          </a:xfrm>
          <a:prstGeom prst="rect">
            <a:avLst/>
          </a:prstGeom>
          <a:noFill/>
          <a:ln/>
        </p:spPr>
        <p:txBody>
          <a:bodyPr wrap="square" lIns="0" tIns="0" rIns="0" bIns="0" rtlCol="0" anchor="t"/>
          <a:lstStyle/>
          <a:p>
            <a:pPr algn="l" indent="0" marL="0">
              <a:buNone/>
            </a:pPr>
            <a:r>
              <a:rPr lang="en-US" sz="900" b="1" spc="300" kern="0" dirty="0">
                <a:solidFill>
                  <a:srgbClr val="FFFFFF"/>
                </a:solidFill>
              </a:rPr>
              <a:t>BENCHMARK</a:t>
            </a:r>
            <a:endParaRPr lang="en-US" sz="900" dirty="0"/>
          </a:p>
          <a:p>
            <a:pPr algn="l" indent="0" marL="0">
              <a:buNone/>
            </a:pPr>
            <a:endParaRPr lang="en-US" sz="900" dirty="0"/>
          </a:p>
          <a:p>
            <a:pPr algn="l" indent="0" marL="0">
              <a:buNone/>
            </a:pPr>
            <a:r>
              <a:rPr lang="en-US" sz="1400" b="1" dirty="0">
                <a:solidFill>
                  <a:srgbClr val="FFFFFF"/>
                </a:solidFill>
              </a:rPr>
              <a:t>Lip Critic publishes 30 assets across 4 of 6 monitored formats: OMV, Live Session, Lyric Video, and Visualiser. High upload frequency maintains constant channel presence at developing scale.</a:t>
            </a:r>
            <a:endParaRPr lang="en-US" sz="900" dirty="0"/>
          </a:p>
        </p:txBody>
      </p:sp>
      <p:sp>
        <p:nvSpPr>
          <p:cNvPr id="8" name="Shape 6"/>
          <p:cNvSpPr/>
          <p:nvPr/>
        </p:nvSpPr>
        <p:spPr>
          <a:xfrm>
            <a:off x="457200" y="3291840"/>
            <a:ext cx="8229600" cy="777240"/>
          </a:xfrm>
          <a:prstGeom prst="roundRect">
            <a:avLst>
              <a:gd name="adj" fmla="val 7059"/>
            </a:avLst>
          </a:prstGeom>
          <a:solidFill>
            <a:srgbClr val="E8F6F3"/>
          </a:solidFill>
          <a:ln/>
        </p:spPr>
      </p:sp>
      <p:sp>
        <p:nvSpPr>
          <p:cNvPr id="9" name="Text 7"/>
          <p:cNvSpPr/>
          <p:nvPr/>
        </p:nvSpPr>
        <p:spPr>
          <a:xfrm>
            <a:off x="640080" y="3337560"/>
            <a:ext cx="7863840" cy="685800"/>
          </a:xfrm>
          <a:prstGeom prst="rect">
            <a:avLst/>
          </a:prstGeom>
          <a:noFill/>
          <a:ln/>
        </p:spPr>
        <p:txBody>
          <a:bodyPr wrap="square" lIns="0" tIns="0" rIns="0" bIns="0" rtlCol="0" anchor="t"/>
          <a:lstStyle/>
          <a:p>
            <a:pPr algn="l" indent="0" marL="0">
              <a:buNone/>
            </a:pPr>
            <a:r>
              <a:rPr lang="en-US" sz="900" b="1" spc="300" kern="0" dirty="0">
                <a:solidFill>
                  <a:srgbClr val="1A8A7D"/>
                </a:solidFill>
              </a:rPr>
              <a:t>PLANNING LESSON</a:t>
            </a:r>
            <a:endParaRPr lang="en-US" sz="900" dirty="0"/>
          </a:p>
          <a:p>
            <a:pPr algn="l" indent="0" marL="0">
              <a:buNone/>
            </a:pPr>
            <a:endParaRPr lang="en-US" sz="900" dirty="0"/>
          </a:p>
          <a:p>
            <a:pPr algn="l" indent="0" marL="0">
              <a:buNone/>
            </a:pPr>
            <a:r>
              <a:rPr lang="en-US" sz="1200" dirty="0">
                <a:solidFill>
                  <a:srgbClr val="1A1A2E"/>
                </a:solidFill>
              </a:rPr>
              <a:t>Volume and variety work together. High upload frequency with format diversity provides multiple discovery entry points. At developing scale, maintaining channel activity is itself a competitive advantage.</a:t>
            </a:r>
            <a:endParaRPr lang="en-US" sz="900" dirty="0"/>
          </a:p>
        </p:txBody>
      </p:sp>
      <p:sp>
        <p:nvSpPr>
          <p:cNvPr id="10" name="Shape 8"/>
          <p:cNvSpPr/>
          <p:nvPr/>
        </p:nvSpPr>
        <p:spPr>
          <a:xfrm>
            <a:off x="457200" y="4297680"/>
            <a:ext cx="1591056" cy="292608"/>
          </a:xfrm>
          <a:prstGeom prst="roundRect">
            <a:avLst>
              <a:gd name="adj" fmla="val 50000"/>
            </a:avLst>
          </a:prstGeom>
          <a:solidFill>
            <a:srgbClr val="1A1A2E"/>
          </a:solidFill>
          <a:ln/>
        </p:spPr>
      </p:sp>
      <p:sp>
        <p:nvSpPr>
          <p:cNvPr id="11" name="Text 9"/>
          <p:cNvSpPr/>
          <p:nvPr/>
        </p:nvSpPr>
        <p:spPr>
          <a:xfrm>
            <a:off x="457200"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4/6 Multi-Format</a:t>
            </a:r>
            <a:endParaRPr lang="en-US" sz="900" dirty="0"/>
          </a:p>
        </p:txBody>
      </p:sp>
      <p:sp>
        <p:nvSpPr>
          <p:cNvPr id="12" name="Shape 10"/>
          <p:cNvSpPr/>
          <p:nvPr/>
        </p:nvSpPr>
        <p:spPr>
          <a:xfrm>
            <a:off x="2185416" y="4297680"/>
            <a:ext cx="1755648" cy="292608"/>
          </a:xfrm>
          <a:prstGeom prst="roundRect">
            <a:avLst>
              <a:gd name="adj" fmla="val 50000"/>
            </a:avLst>
          </a:prstGeom>
          <a:solidFill>
            <a:srgbClr val="1A1A2E"/>
          </a:solidFill>
          <a:ln/>
        </p:spPr>
      </p:sp>
      <p:sp>
        <p:nvSpPr>
          <p:cNvPr id="13" name="Text 11"/>
          <p:cNvSpPr/>
          <p:nvPr/>
        </p:nvSpPr>
        <p:spPr>
          <a:xfrm>
            <a:off x="2185416" y="4297680"/>
            <a:ext cx="1755648"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High Upload Volume</a:t>
            </a:r>
            <a:endParaRPr lang="en-US" sz="900" dirty="0"/>
          </a:p>
        </p:txBody>
      </p:sp>
      <p:sp>
        <p:nvSpPr>
          <p:cNvPr id="14" name="Shape 12"/>
          <p:cNvSpPr/>
          <p:nvPr/>
        </p:nvSpPr>
        <p:spPr>
          <a:xfrm>
            <a:off x="4078224" y="4297680"/>
            <a:ext cx="1591056" cy="292608"/>
          </a:xfrm>
          <a:prstGeom prst="roundRect">
            <a:avLst>
              <a:gd name="adj" fmla="val 50000"/>
            </a:avLst>
          </a:prstGeom>
          <a:solidFill>
            <a:srgbClr val="1A1A2E"/>
          </a:solidFill>
          <a:ln/>
        </p:spPr>
      </p:sp>
      <p:sp>
        <p:nvSpPr>
          <p:cNvPr id="15" name="Text 13"/>
          <p:cNvSpPr/>
          <p:nvPr/>
        </p:nvSpPr>
        <p:spPr>
          <a:xfrm>
            <a:off x="4078224" y="4297680"/>
            <a:ext cx="1591056" cy="292608"/>
          </a:xfrm>
          <a:prstGeom prst="rect">
            <a:avLst/>
          </a:prstGeom>
          <a:noFill/>
          <a:ln/>
        </p:spPr>
        <p:txBody>
          <a:bodyPr wrap="square" lIns="0" tIns="0" rIns="0" bIns="0" rtlCol="0" anchor="ctr"/>
          <a:lstStyle/>
          <a:p>
            <a:pPr algn="ctr" indent="0" marL="0">
              <a:buNone/>
            </a:pPr>
            <a:r>
              <a:rPr lang="en-US" sz="900" b="1" dirty="0">
                <a:solidFill>
                  <a:srgbClr val="2EAD9C"/>
                </a:solidFill>
                <a:latin typeface="Arial" pitchFamily="34" charset="0"/>
                <a:ea typeface="Arial" pitchFamily="34" charset="-122"/>
                <a:cs typeface="Arial" pitchFamily="34" charset="-120"/>
              </a:rPr>
              <a:t>Virgin Benchmark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1097280"/>
            <a:ext cx="7680960" cy="457200"/>
          </a:xfrm>
          <a:prstGeom prst="rect">
            <a:avLst/>
          </a:prstGeom>
          <a:noFill/>
          <a:ln/>
        </p:spPr>
        <p:txBody>
          <a:bodyPr wrap="square" lIns="0" tIns="0" rIns="0" bIns="0" rtlCol="0" anchor="ctr"/>
          <a:lstStyle/>
          <a:p>
            <a:pPr algn="l" indent="0" marL="0">
              <a:buNone/>
            </a:pPr>
            <a:r>
              <a:rPr lang="en-US" sz="1400" b="1" spc="600" kern="0" dirty="0">
                <a:solidFill>
                  <a:srgbClr val="2EAD9C"/>
                </a:solidFill>
                <a:latin typeface="Arial" pitchFamily="34" charset="0"/>
                <a:ea typeface="Arial" pitchFamily="34" charset="-122"/>
                <a:cs typeface="Arial" pitchFamily="34" charset="-120"/>
              </a:rPr>
              <a:t>CAMPAIGN PLAYBOOK</a:t>
            </a:r>
            <a:endParaRPr lang="en-US" sz="1400" dirty="0"/>
          </a:p>
        </p:txBody>
      </p:sp>
      <p:sp>
        <p:nvSpPr>
          <p:cNvPr id="3" name="Text 1"/>
          <p:cNvSpPr/>
          <p:nvPr/>
        </p:nvSpPr>
        <p:spPr>
          <a:xfrm>
            <a:off x="731520" y="1645920"/>
            <a:ext cx="7680960" cy="1280160"/>
          </a:xfrm>
          <a:prstGeom prst="rect">
            <a:avLst/>
          </a:prstGeom>
          <a:noFill/>
          <a:ln/>
        </p:spPr>
        <p:txBody>
          <a:bodyPr wrap="square" lIns="0" tIns="0" rIns="0" bIns="0" rtlCol="0" anchor="ctr"/>
          <a:lstStyle/>
          <a:p>
            <a:pPr algn="l" indent="0" marL="0">
              <a:buNone/>
            </a:pPr>
            <a:r>
              <a:rPr lang="en-US" sz="4200" b="1" dirty="0">
                <a:solidFill>
                  <a:srgbClr val="FFFFFF"/>
                </a:solidFill>
                <a:latin typeface="Arial" pitchFamily="34" charset="0"/>
                <a:ea typeface="Arial" pitchFamily="34" charset="-122"/>
                <a:cs typeface="Arial" pitchFamily="34" charset="-120"/>
              </a:rPr>
              <a:t>What should</a:t>
            </a:r>
            <a:endParaRPr lang="en-US" sz="4200" dirty="0"/>
          </a:p>
          <a:p>
            <a:pPr algn="l" indent="0" marL="0">
              <a:buNone/>
            </a:pPr>
            <a:r>
              <a:rPr lang="en-US" sz="4200" b="1" dirty="0">
                <a:solidFill>
                  <a:srgbClr val="FFFFFF"/>
                </a:solidFill>
                <a:latin typeface="Arial" pitchFamily="34" charset="0"/>
                <a:ea typeface="Arial" pitchFamily="34" charset="-122"/>
                <a:cs typeface="Arial" pitchFamily="34" charset="-120"/>
              </a:rPr>
              <a:t>teams do next?</a:t>
            </a:r>
            <a:endParaRPr lang="en-US" sz="4200" dirty="0"/>
          </a:p>
        </p:txBody>
      </p:sp>
      <p:sp>
        <p:nvSpPr>
          <p:cNvPr id="4" name="Text 2"/>
          <p:cNvSpPr/>
          <p:nvPr/>
        </p:nvSpPr>
        <p:spPr>
          <a:xfrm>
            <a:off x="731520" y="3200400"/>
            <a:ext cx="7680960" cy="731520"/>
          </a:xfrm>
          <a:prstGeom prst="rect">
            <a:avLst/>
          </a:prstGeom>
          <a:noFill/>
          <a:ln/>
        </p:spPr>
        <p:txBody>
          <a:bodyPr wrap="square" lIns="0" tIns="0" rIns="0" bIns="0" rtlCol="0" anchor="ctr"/>
          <a:lstStyle/>
          <a:p>
            <a:pPr algn="l" indent="0" marL="0">
              <a:buNone/>
            </a:pPr>
            <a:r>
              <a:rPr lang="en-US" sz="1400" dirty="0">
                <a:solidFill>
                  <a:srgbClr val="7F8C8D"/>
                </a:solidFill>
                <a:latin typeface="Arial" pitchFamily="34" charset="0"/>
                <a:ea typeface="Arial" pitchFamily="34" charset="-122"/>
                <a:cs typeface="Arial" pitchFamily="34" charset="-120"/>
              </a:rPr>
              <a:t>Every recommendation links back to</a:t>
            </a:r>
            <a:endParaRPr lang="en-US" sz="1400" dirty="0"/>
          </a:p>
          <a:p>
            <a:pPr algn="l" indent="0" marL="0">
              <a:buNone/>
            </a:pPr>
            <a:r>
              <a:rPr lang="en-US" sz="1400" dirty="0">
                <a:solidFill>
                  <a:srgbClr val="7F8C8D"/>
                </a:solidFill>
                <a:latin typeface="Arial" pitchFamily="34" charset="0"/>
                <a:ea typeface="Arial" pitchFamily="34" charset="-122"/>
                <a:cs typeface="Arial" pitchFamily="34" charset="-120"/>
              </a:rPr>
              <a:t>a market signal or a benchmark campaign.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457200"/>
          </a:xfrm>
          <a:prstGeom prst="rect">
            <a:avLst/>
          </a:prstGeom>
          <a:noFill/>
          <a:ln/>
        </p:spPr>
        <p:txBody>
          <a:bodyPr wrap="square" lIns="0" tIns="0" rIns="0" bIns="0" rtlCol="0" anchor="ctr"/>
          <a:lstStyle/>
          <a:p>
            <a:pPr algn="l" indent="0" marL="0">
              <a:buNone/>
            </a:pPr>
            <a:r>
              <a:rPr lang="en-US" sz="2800" b="1" dirty="0">
                <a:solidFill>
                  <a:srgbClr val="1A1A2E"/>
                </a:solidFill>
                <a:latin typeface="Arial" pitchFamily="34" charset="0"/>
                <a:ea typeface="Arial" pitchFamily="34" charset="-122"/>
                <a:cs typeface="Arial" pitchFamily="34" charset="-120"/>
              </a:rPr>
              <a:t>Campaign Playbook</a:t>
            </a:r>
            <a:endParaRPr lang="en-US" sz="2800" dirty="0"/>
          </a:p>
        </p:txBody>
      </p:sp>
      <p:sp>
        <p:nvSpPr>
          <p:cNvPr id="3" name="Shape 1"/>
          <p:cNvSpPr/>
          <p:nvPr/>
        </p:nvSpPr>
        <p:spPr>
          <a:xfrm>
            <a:off x="457200" y="868680"/>
            <a:ext cx="8229600" cy="1280160"/>
          </a:xfrm>
          <a:prstGeom prst="roundRect">
            <a:avLst>
              <a:gd name="adj" fmla="val 4286"/>
            </a:avLst>
          </a:prstGeom>
          <a:solidFill>
            <a:srgbClr val="E8F6F3"/>
          </a:solidFill>
          <a:ln/>
        </p:spPr>
      </p:sp>
      <p:sp>
        <p:nvSpPr>
          <p:cNvPr id="4" name="Text 2"/>
          <p:cNvSpPr/>
          <p:nvPr/>
        </p:nvSpPr>
        <p:spPr>
          <a:xfrm>
            <a:off x="640080" y="914400"/>
            <a:ext cx="7863840" cy="1188720"/>
          </a:xfrm>
          <a:prstGeom prst="rect">
            <a:avLst/>
          </a:prstGeom>
          <a:noFill/>
          <a:ln/>
        </p:spPr>
        <p:txBody>
          <a:bodyPr wrap="square" lIns="0" tIns="0" rIns="0" bIns="0" rtlCol="0" anchor="ctr"/>
          <a:lstStyle/>
          <a:p>
            <a:pPr algn="l" indent="0" marL="0">
              <a:buNone/>
            </a:pPr>
            <a:r>
              <a:rPr lang="en-US" sz="1000" b="1" spc="300" kern="0" dirty="0">
                <a:solidFill>
                  <a:srgbClr val="1A8A7D"/>
                </a:solidFill>
              </a:rPr>
              <a:t>KEEP DOING</a:t>
            </a:r>
            <a:endParaRPr lang="en-US" sz="1000" dirty="0"/>
          </a:p>
          <a:p>
            <a:pPr algn="l" indent="0" marL="0">
              <a:buNone/>
            </a:pPr>
            <a:endParaRPr lang="en-US" sz="1000" dirty="0"/>
          </a:p>
          <a:p>
            <a:pPr algn="l" indent="0" marL="0">
              <a:buNone/>
            </a:pPr>
            <a:r>
              <a:rPr lang="en-US" sz="1300" dirty="0">
                <a:solidFill>
                  <a:srgbClr val="1A1A2E"/>
                </a:solidFill>
              </a:rPr>
              <a:t>OMV + Shorts as the campaign foundation — 77% use OMVs, 48% use Shorts. Acoustic content as a Virgin differentiator — 3.1x market advantage. Visualisers as a Virgin strength (51.2% vs 42.9%).</a:t>
            </a:r>
            <a:endParaRPr lang="en-US" sz="1000" dirty="0"/>
          </a:p>
          <a:p>
            <a:pPr algn="l" indent="0" marL="0">
              <a:buNone/>
            </a:pPr>
            <a:r>
              <a:rPr lang="en-US" sz="1000" i="1" dirty="0">
                <a:solidFill>
                  <a:srgbClr val="1A8A7D"/>
                </a:solidFill>
              </a:rPr>
              <a:t>Linked to: Tove Lo (multi-format), Angus &amp; Julia Stone (acoustic)</a:t>
            </a:r>
            <a:endParaRPr lang="en-US" sz="1000" dirty="0"/>
          </a:p>
        </p:txBody>
      </p:sp>
      <p:sp>
        <p:nvSpPr>
          <p:cNvPr id="5" name="Shape 3"/>
          <p:cNvSpPr/>
          <p:nvPr/>
        </p:nvSpPr>
        <p:spPr>
          <a:xfrm>
            <a:off x="457200" y="2331720"/>
            <a:ext cx="8229600" cy="1280160"/>
          </a:xfrm>
          <a:prstGeom prst="roundRect">
            <a:avLst>
              <a:gd name="adj" fmla="val 4286"/>
            </a:avLst>
          </a:prstGeom>
          <a:solidFill>
            <a:srgbClr val="F7F8FA"/>
          </a:solidFill>
          <a:ln/>
        </p:spPr>
      </p:sp>
      <p:sp>
        <p:nvSpPr>
          <p:cNvPr id="6" name="Text 4"/>
          <p:cNvSpPr/>
          <p:nvPr/>
        </p:nvSpPr>
        <p:spPr>
          <a:xfrm>
            <a:off x="640080" y="2377440"/>
            <a:ext cx="7863840" cy="1188720"/>
          </a:xfrm>
          <a:prstGeom prst="rect">
            <a:avLst/>
          </a:prstGeom>
          <a:noFill/>
          <a:ln/>
        </p:spPr>
        <p:txBody>
          <a:bodyPr wrap="square" lIns="0" tIns="0" rIns="0" bIns="0" rtlCol="0" anchor="ctr"/>
          <a:lstStyle/>
          <a:p>
            <a:pPr algn="l" indent="0" marL="0">
              <a:buNone/>
            </a:pPr>
            <a:r>
              <a:rPr lang="en-US" sz="1000" b="1" spc="300" kern="0" dirty="0">
                <a:solidFill>
                  <a:srgbClr val="1A1A2E"/>
                </a:solidFill>
              </a:rPr>
              <a:t>DO MORE</a:t>
            </a:r>
            <a:endParaRPr lang="en-US" sz="1000" dirty="0"/>
          </a:p>
          <a:p>
            <a:pPr algn="l" indent="0" marL="0">
              <a:buNone/>
            </a:pPr>
            <a:endParaRPr lang="en-US" sz="1000" dirty="0"/>
          </a:p>
          <a:p>
            <a:pPr algn="l" indent="0" marL="0">
              <a:buNone/>
            </a:pPr>
            <a:r>
              <a:rPr lang="en-US" sz="1300" dirty="0">
                <a:solidFill>
                  <a:srgbClr val="1A1A2E"/>
                </a:solidFill>
              </a:rPr>
              <a:t>Publish follow-through content 7-14 days after the hero release — 96% of channels currently go silent. BTS as a campaign standard (Growing 2.9x more likely). Multi-format for developing artists from day one.</a:t>
            </a:r>
            <a:endParaRPr lang="en-US" sz="1000" dirty="0"/>
          </a:p>
          <a:p>
            <a:pPr algn="l" indent="0" marL="0">
              <a:buNone/>
            </a:pPr>
            <a:r>
              <a:rPr lang="en-US" sz="1000" i="1" dirty="0">
                <a:solidFill>
                  <a:srgbClr val="7F8C8D"/>
                </a:solidFill>
              </a:rPr>
              <a:t>Linked to: K-Trap (collabs + low hero dep), Mary in the Junkyard (developing), Lip Critic (frequency)</a:t>
            </a:r>
            <a:endParaRPr lang="en-US" sz="1000" dirty="0"/>
          </a:p>
        </p:txBody>
      </p:sp>
      <p:sp>
        <p:nvSpPr>
          <p:cNvPr id="7" name="Shape 5"/>
          <p:cNvSpPr/>
          <p:nvPr/>
        </p:nvSpPr>
        <p:spPr>
          <a:xfrm>
            <a:off x="457200" y="3794760"/>
            <a:ext cx="8229600" cy="1143000"/>
          </a:xfrm>
          <a:prstGeom prst="roundRect">
            <a:avLst>
              <a:gd name="adj" fmla="val 4800"/>
            </a:avLst>
          </a:prstGeom>
          <a:solidFill>
            <a:srgbClr val="E8F6F3"/>
          </a:solidFill>
          <a:ln/>
        </p:spPr>
      </p:sp>
      <p:sp>
        <p:nvSpPr>
          <p:cNvPr id="8" name="Text 6"/>
          <p:cNvSpPr/>
          <p:nvPr/>
        </p:nvSpPr>
        <p:spPr>
          <a:xfrm>
            <a:off x="640080" y="3840480"/>
            <a:ext cx="7863840" cy="1051560"/>
          </a:xfrm>
          <a:prstGeom prst="rect">
            <a:avLst/>
          </a:prstGeom>
          <a:noFill/>
          <a:ln/>
        </p:spPr>
        <p:txBody>
          <a:bodyPr wrap="square" lIns="0" tIns="0" rIns="0" bIns="0" rtlCol="0" anchor="ctr"/>
          <a:lstStyle/>
          <a:p>
            <a:pPr algn="l" indent="0" marL="0">
              <a:buNone/>
            </a:pPr>
            <a:r>
              <a:rPr lang="en-US" sz="1000" b="1" spc="300" kern="0" dirty="0">
                <a:solidFill>
                  <a:srgbClr val="1A8A7D"/>
                </a:solidFill>
              </a:rPr>
              <a:t>TRY NEXT</a:t>
            </a:r>
            <a:endParaRPr lang="en-US" sz="1000" dirty="0"/>
          </a:p>
          <a:p>
            <a:pPr algn="l" indent="0" marL="0">
              <a:buNone/>
            </a:pPr>
            <a:endParaRPr lang="en-US" sz="1000" dirty="0"/>
          </a:p>
          <a:p>
            <a:pPr algn="l" indent="0" marL="0">
              <a:buNone/>
            </a:pPr>
            <a:r>
              <a:rPr lang="en-US" sz="1300" dirty="0">
                <a:solidFill>
                  <a:srgbClr val="1A1A2E"/>
                </a:solidFill>
              </a:rPr>
              <a:t>Close the Lyric Video gap (Virgin 43.9% vs Market 53.6%). Close the Live Session gap (Virgin 48.8% vs Market 60.7%). Target the full Multi-Format Release Strategy — only 2.2% of channels currently achieve it.</a:t>
            </a:r>
            <a:endParaRPr lang="en-US" sz="1000" dirty="0"/>
          </a:p>
          <a:p>
            <a:pPr algn="l" indent="0" marL="0">
              <a:buNone/>
            </a:pPr>
            <a:r>
              <a:rPr lang="en-US" sz="1000" i="1" dirty="0">
                <a:solidFill>
                  <a:srgbClr val="1A8A7D"/>
                </a:solidFill>
              </a:rPr>
              <a:t>Linked to: Ezra Collective (live), GENER8ION (efficiency)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914400"/>
            <a:ext cx="7680960" cy="548640"/>
          </a:xfrm>
          <a:prstGeom prst="rect">
            <a:avLst/>
          </a:prstGeom>
          <a:noFill/>
          <a:ln/>
        </p:spPr>
        <p:txBody>
          <a:bodyPr wrap="square" lIns="0" tIns="0" rIns="0" bIns="0" rtlCol="0" anchor="ctr"/>
          <a:lstStyle/>
          <a:p>
            <a:pPr algn="l" indent="0" marL="0">
              <a:buNone/>
            </a:pPr>
            <a:r>
              <a:rPr lang="en-US" sz="2400" dirty="0">
                <a:solidFill>
                  <a:srgbClr val="FFFFFF"/>
                </a:solidFill>
                <a:latin typeface="Arial" pitchFamily="34" charset="0"/>
                <a:ea typeface="Arial" pitchFamily="34" charset="-122"/>
                <a:cs typeface="Arial" pitchFamily="34" charset="-120"/>
              </a:rPr>
              <a:t>Show what the market is doing.</a:t>
            </a:r>
            <a:endParaRPr lang="en-US" sz="2400" dirty="0"/>
          </a:p>
        </p:txBody>
      </p:sp>
      <p:sp>
        <p:nvSpPr>
          <p:cNvPr id="3" name="Text 1"/>
          <p:cNvSpPr/>
          <p:nvPr/>
        </p:nvSpPr>
        <p:spPr>
          <a:xfrm>
            <a:off x="731520" y="1417320"/>
            <a:ext cx="7680960" cy="548640"/>
          </a:xfrm>
          <a:prstGeom prst="rect">
            <a:avLst/>
          </a:prstGeom>
          <a:noFill/>
          <a:ln/>
        </p:spPr>
        <p:txBody>
          <a:bodyPr wrap="square" lIns="0" tIns="0" rIns="0" bIns="0" rtlCol="0" anchor="ctr"/>
          <a:lstStyle/>
          <a:p>
            <a:pPr algn="l" indent="0" marL="0">
              <a:buNone/>
            </a:pPr>
            <a:r>
              <a:rPr lang="en-US" sz="2400" dirty="0">
                <a:solidFill>
                  <a:srgbClr val="FFFFFF"/>
                </a:solidFill>
                <a:latin typeface="Arial" pitchFamily="34" charset="0"/>
                <a:ea typeface="Arial" pitchFamily="34" charset="-122"/>
                <a:cs typeface="Arial" pitchFamily="34" charset="-120"/>
              </a:rPr>
              <a:t>Highlight who is doing it best.</a:t>
            </a:r>
            <a:endParaRPr lang="en-US" sz="2400" dirty="0"/>
          </a:p>
        </p:txBody>
      </p:sp>
      <p:sp>
        <p:nvSpPr>
          <p:cNvPr id="4" name="Text 2"/>
          <p:cNvSpPr/>
          <p:nvPr/>
        </p:nvSpPr>
        <p:spPr>
          <a:xfrm>
            <a:off x="731520" y="1920240"/>
            <a:ext cx="7680960" cy="548640"/>
          </a:xfrm>
          <a:prstGeom prst="rect">
            <a:avLst/>
          </a:prstGeom>
          <a:noFill/>
          <a:ln/>
        </p:spPr>
        <p:txBody>
          <a:bodyPr wrap="square" lIns="0" tIns="0" rIns="0" bIns="0" rtlCol="0" anchor="ctr"/>
          <a:lstStyle/>
          <a:p>
            <a:pPr algn="l" indent="0" marL="0">
              <a:buNone/>
            </a:pPr>
            <a:r>
              <a:rPr lang="en-US" sz="2400" b="1" dirty="0">
                <a:solidFill>
                  <a:srgbClr val="2EAD9C"/>
                </a:solidFill>
                <a:latin typeface="Arial" pitchFamily="34" charset="0"/>
                <a:ea typeface="Arial" pitchFamily="34" charset="-122"/>
                <a:cs typeface="Arial" pitchFamily="34" charset="-120"/>
              </a:rPr>
              <a:t>Help teams build better campaigns.</a:t>
            </a:r>
            <a:endParaRPr lang="en-US" sz="2400" dirty="0"/>
          </a:p>
        </p:txBody>
      </p:sp>
      <p:sp>
        <p:nvSpPr>
          <p:cNvPr id="5" name="Text 3"/>
          <p:cNvSpPr/>
          <p:nvPr/>
        </p:nvSpPr>
        <p:spPr>
          <a:xfrm>
            <a:off x="731520" y="3108960"/>
            <a:ext cx="7680960" cy="457200"/>
          </a:xfrm>
          <a:prstGeom prst="rect">
            <a:avLst/>
          </a:prstGeom>
          <a:noFill/>
          <a:ln/>
        </p:spPr>
        <p:txBody>
          <a:bodyPr wrap="square" lIns="0" tIns="0" rIns="0" bIns="0" rtlCol="0" anchor="ctr"/>
          <a:lstStyle/>
          <a:p>
            <a:pPr algn="l" indent="0" marL="0">
              <a:buNone/>
            </a:pPr>
            <a:r>
              <a:rPr lang="en-US" sz="1600" dirty="0">
                <a:solidFill>
                  <a:srgbClr val="7F8C8D"/>
                </a:solidFill>
                <a:latin typeface="Arial" pitchFamily="34" charset="0"/>
                <a:ea typeface="Arial" pitchFamily="34" charset="-122"/>
                <a:cs typeface="Arial" pitchFamily="34" charset="-120"/>
              </a:rPr>
              <a:t>YouTube Market Intelligence</a:t>
            </a:r>
            <a:endParaRPr lang="en-US" sz="1600" dirty="0"/>
          </a:p>
        </p:txBody>
      </p:sp>
      <p:sp>
        <p:nvSpPr>
          <p:cNvPr id="6" name="Text 4"/>
          <p:cNvSpPr/>
          <p:nvPr/>
        </p:nvSpPr>
        <p:spPr>
          <a:xfrm>
            <a:off x="731520" y="3520440"/>
            <a:ext cx="7680960" cy="365760"/>
          </a:xfrm>
          <a:prstGeom prst="rect">
            <a:avLst/>
          </a:prstGeom>
          <a:noFill/>
          <a:ln/>
        </p:spPr>
        <p:txBody>
          <a:bodyPr wrap="square" lIns="0" tIns="0" rIns="0" bIns="0" rtlCol="0" anchor="ctr"/>
          <a:lstStyle/>
          <a:p>
            <a:pPr algn="l" indent="0" marL="0">
              <a:buNone/>
            </a:pPr>
            <a:r>
              <a:rPr lang="en-US" sz="1200" dirty="0">
                <a:solidFill>
                  <a:srgbClr val="7F8C8D"/>
                </a:solidFill>
                <a:latin typeface="Arial" pitchFamily="34" charset="0"/>
                <a:ea typeface="Arial" pitchFamily="34" charset="-122"/>
                <a:cs typeface="Arial" pitchFamily="34" charset="-120"/>
              </a:rPr>
              <a:t>Virgin Music Group  ·  July 2026</a:t>
            </a:r>
            <a:endParaRPr lang="en-US" sz="1200" dirty="0"/>
          </a:p>
        </p:txBody>
      </p:sp>
      <p:sp>
        <p:nvSpPr>
          <p:cNvPr id="7" name="Shape 5"/>
          <p:cNvSpPr/>
          <p:nvPr/>
        </p:nvSpPr>
        <p:spPr>
          <a:xfrm>
            <a:off x="731520" y="4114800"/>
            <a:ext cx="4206240" cy="384048"/>
          </a:xfrm>
          <a:prstGeom prst="roundRect">
            <a:avLst>
              <a:gd name="adj" fmla="val 14286"/>
            </a:avLst>
          </a:prstGeom>
          <a:solidFill>
            <a:srgbClr val="1A8A7D"/>
          </a:solidFill>
          <a:ln/>
        </p:spPr>
      </p:sp>
      <p:sp>
        <p:nvSpPr>
          <p:cNvPr id="8" name="Text 6"/>
          <p:cNvSpPr/>
          <p:nvPr/>
        </p:nvSpPr>
        <p:spPr>
          <a:xfrm>
            <a:off x="731520" y="4114800"/>
            <a:ext cx="4206240" cy="384048"/>
          </a:xfrm>
          <a:prstGeom prst="rect">
            <a:avLst/>
          </a:prstGeom>
          <a:noFill/>
          <a:ln/>
        </p:spPr>
        <p:txBody>
          <a:bodyPr wrap="square" lIns="0" tIns="0" rIns="0" bIns="0" rtlCol="0" anchor="ctr"/>
          <a:lstStyle/>
          <a:p>
            <a:pPr algn="ctr" indent="0" marL="0">
              <a:buNone/>
            </a:pPr>
            <a:r>
              <a:rPr lang="en-US" sz="1000" dirty="0">
                <a:solidFill>
                  <a:srgbClr val="FFFFFF"/>
                </a:solidFill>
                <a:latin typeface="Arial" pitchFamily="34" charset="0"/>
                <a:ea typeface="Arial" pitchFamily="34" charset="-122"/>
                <a:cs typeface="Arial" pitchFamily="34" charset="-120"/>
              </a:rPr>
              <a:t>Watcher Dataset  ·  138 Channels  ·  3,554 Videos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YouTube Market Intelligence</dc:title>
  <dc:subject>PptxGenJS Presentation</dc:subject>
  <dc:creator>Virgin Music Group</dc:creator>
  <cp:lastModifiedBy>Virgin Music Group</cp:lastModifiedBy>
  <cp:revision>1</cp:revision>
  <dcterms:created xsi:type="dcterms:W3CDTF">2026-07-01T11:12:45Z</dcterms:created>
  <dcterms:modified xsi:type="dcterms:W3CDTF">2026-07-01T11:12:45Z</dcterms:modified>
</cp:coreProperties>
</file>